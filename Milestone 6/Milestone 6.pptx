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</p:sldIdLst>
  <p:sldSz cx="9144000" cy="5143500" type="screen16x9"/>
  <p:notesSz cx="6858000" cy="9144000"/>
  <p:embeddedFontLst>
    <p:embeddedFont>
      <p:font typeface="Inter" panose="020B0604020202020204" charset="0"/>
      <p:bold r:id="rId20"/>
      <p:boldItalic r:id="rId21"/>
    </p:embeddedFont>
    <p:embeddedFont>
      <p:font typeface="Inter Black" panose="020B0604020202020204" charset="0"/>
      <p:bold r:id="rId22"/>
      <p:boldItalic r:id="rId23"/>
    </p:embeddedFont>
    <p:embeddedFont>
      <p:font typeface="Inter ExtraBold" panose="020B0604020202020204" charset="0"/>
      <p:bold r:id="rId24"/>
      <p:boldItalic r:id="rId25"/>
    </p:embeddedFont>
    <p:embeddedFont>
      <p:font typeface="Inter Medium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  <p:embeddedFont>
      <p:font typeface="Merriweather" panose="00000500000000000000" pitchFamily="2" charset="0"/>
      <p:bold r:id="rId34"/>
      <p:boldItalic r:id="rId35"/>
    </p:embeddedFont>
    <p:embeddedFont>
      <p:font typeface="Roboto Mono" panose="00000009000000000000" pitchFamily="49" charset="0"/>
      <p:regular r:id="rId36"/>
      <p:bold r:id="rId37"/>
      <p:italic r:id="rId38"/>
      <p:boldItalic r:id="rId39"/>
    </p:embeddedFont>
    <p:embeddedFont>
      <p:font typeface="Roboto Mono Medium" panose="00000009000000000000" pitchFamily="49" charset="0"/>
      <p:regular r:id="rId40"/>
      <p:bold r:id="rId41"/>
      <p:italic r:id="rId42"/>
      <p:boldItalic r:id="rId43"/>
    </p:embeddedFont>
    <p:embeddedFont>
      <p:font typeface="Roboto Mono SemiBold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FD991A-EE3F-4C92-9417-302D7A9F58FC}">
  <a:tblStyle styleId="{82FD991A-EE3F-4C92-9417-302D7A9F58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9ea094f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99ea094f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99ea094f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99ea094f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ff26fe2b_25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ff26fe2b_25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9ebef0b5_27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9ebef0b5_27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9ea094f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99ea094f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99ea094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99ea094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70172f480_8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70172f480_8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fbc5e69f_0_6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6fbc5e69f_0_6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99ea094ff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99ea094ff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70172f480_8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f70172f480_8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70172f480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f70172f480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6ff26fe2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f6ff26fe2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99ea094ff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99ea094ff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99ea094ff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f99ea094ff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70172f480_8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f70172f480_8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99ebef0b5_28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f99ebef0b5_28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6ed0d3eec_10_0)">
  <p:cSld name="Generated (g3f6ed0d3eec_10_0)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DSAI-IITM-T2-2026/Group-8-DS-and-AI-Lab-Project/blob/main/Milestone%205/fire_analysis2.csv" TargetMode="External"/><Relationship Id="rId5" Type="http://schemas.openxmlformats.org/officeDocument/2006/relationships/hyperlink" Target="https://www.mdpi.com/2072-4292/12/11/1884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2-4292/14/17/436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673-4834/7/4/12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2-4292/14/17/436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gusphere.copernicus.org/preprints/2025/egusphere-2025-4486/" TargetMode="External"/><Relationship Id="rId4" Type="http://schemas.openxmlformats.org/officeDocument/2006/relationships/hyperlink" Target="https://www.mdpi.com/2673-4834/7/4/121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>
              <a:alpha val="92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" name="Google Shape;56;p14"/>
          <p:cNvCxnSpPr/>
          <p:nvPr/>
        </p:nvCxnSpPr>
        <p:spPr>
          <a:xfrm>
            <a:off x="762000" y="1333500"/>
            <a:ext cx="0" cy="2286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EA58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14"/>
          <p:cNvSpPr txBox="1"/>
          <p:nvPr/>
        </p:nvSpPr>
        <p:spPr>
          <a:xfrm>
            <a:off x="1047750" y="1285875"/>
            <a:ext cx="71439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AI-POWERED</a:t>
            </a:r>
            <a:endParaRPr sz="14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 sz="4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Wildfire Early Detection</a:t>
            </a:r>
            <a:endParaRPr sz="14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1047750" y="3429000"/>
            <a:ext cx="1333500" cy="342900"/>
            <a:chOff x="0" y="0"/>
            <a:chExt cx="1333500" cy="342900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0"/>
              <a:ext cx="1333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Milestone 6</a:t>
              </a:r>
              <a:endParaRPr sz="11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2524125" y="3429000"/>
            <a:ext cx="1047900" cy="342900"/>
            <a:chOff x="0" y="0"/>
            <a:chExt cx="1047900" cy="3429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10479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0"/>
              <a:ext cx="10479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Group 8</a:t>
              </a:r>
              <a:endParaRPr sz="1100" b="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l="387" r="38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>
              <a:alpha val="92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762000" y="428625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Overview &amp; Problem Statement</a:t>
            </a:r>
            <a:endParaRPr sz="10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2800" b="0" i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Introduction</a:t>
            </a:r>
            <a:endParaRPr sz="10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762000" y="1381125"/>
            <a:ext cx="3619500" cy="3238500"/>
            <a:chOff x="0" y="0"/>
            <a:chExt cx="3619500" cy="3238500"/>
          </a:xfrm>
        </p:grpSpPr>
        <p:sp>
          <p:nvSpPr>
            <p:cNvPr id="72" name="Google Shape;72;p15"/>
            <p:cNvSpPr/>
            <p:nvPr/>
          </p:nvSpPr>
          <p:spPr>
            <a:xfrm>
              <a:off x="0" y="0"/>
              <a:ext cx="3619500" cy="3238500"/>
            </a:xfrm>
            <a:prstGeom prst="roundRect">
              <a:avLst>
                <a:gd name="adj" fmla="val 4705"/>
              </a:avLst>
            </a:prstGeom>
            <a:solidFill>
              <a:srgbClr val="FFFFFF">
                <a:alpha val="9500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228600" y="228600"/>
              <a:ext cx="31623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 i="0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The AI-Powered Solution</a:t>
              </a:r>
              <a:endParaRPr sz="1018" b="1" i="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665" b="0" i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Proactive Wildfire Early Detection</a:t>
              </a:r>
              <a:endParaRPr sz="1018" b="1" i="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64" b="0" i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Our system continuously analyzes weather physics, landscape topography and vegetation dryness to calculate daily wildfire hazard levels across California.</a:t>
              </a:r>
              <a:endParaRPr sz="1018" b="1" i="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064" b="0" i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Instead of overwhelming crews with alerts, it identifies the </a:t>
              </a:r>
              <a:r>
                <a:rPr lang="en" sz="1064" b="1" i="0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Top 25 Highest-Risk Zones Every Day</a:t>
              </a:r>
              <a:r>
                <a:rPr lang="en" sz="1064" b="0" i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This provides organizations like CAL FIRE a crucial one-day head start to preposition resources and protect communities before ignition.</a:t>
              </a:r>
              <a:endParaRPr sz="1018" b="1" i="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4" name="Google Shape;74;p15"/>
          <p:cNvSpPr txBox="1"/>
          <p:nvPr/>
        </p:nvSpPr>
        <p:spPr>
          <a:xfrm>
            <a:off x="4762500" y="1381125"/>
            <a:ext cx="3619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800" b="0" i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Why Early Detection Matters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" sz="1400" b="0" i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Speed of Wildfires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 high winds and bone-dry air, a single spark can transform into a roaring blaze in minutes.</a:t>
            </a:r>
            <a:endParaRPr sz="105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00" b="0" i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Limited Response Resources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Emergency services operate on finite budgets and cannot patrol every mile of the state simultaneously.</a:t>
            </a:r>
            <a:endParaRPr sz="105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00" b="0" i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03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Late Incident Notice</a:t>
            </a:r>
            <a:endParaRPr sz="110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Waiting for human calls or satellite smoke detection often means responding too late to prevent catastrophic loss.</a:t>
            </a:r>
            <a:endParaRPr sz="1050" b="1" i="0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6"/>
          <p:cNvGrpSpPr/>
          <p:nvPr/>
        </p:nvGrpSpPr>
        <p:grpSpPr>
          <a:xfrm>
            <a:off x="762000" y="428625"/>
            <a:ext cx="7620000" cy="762000"/>
            <a:chOff x="0" y="0"/>
            <a:chExt cx="7620000" cy="762000"/>
          </a:xfrm>
        </p:grpSpPr>
        <p:sp>
          <p:nvSpPr>
            <p:cNvPr id="80" name="Google Shape;80;p16"/>
            <p:cNvSpPr/>
            <p:nvPr/>
          </p:nvSpPr>
          <p:spPr>
            <a:xfrm>
              <a:off x="0" y="0"/>
              <a:ext cx="762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0" y="0"/>
              <a:ext cx="762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ENVIRONMENTAL PIPELINE</a:t>
              </a:r>
              <a:endParaRPr sz="10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28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Data Sources</a:t>
              </a:r>
              <a:endParaRPr sz="10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6"/>
          <p:cNvGrpSpPr/>
          <p:nvPr/>
        </p:nvGrpSpPr>
        <p:grpSpPr>
          <a:xfrm>
            <a:off x="762000" y="1381125"/>
            <a:ext cx="3048000" cy="3238500"/>
            <a:chOff x="0" y="0"/>
            <a:chExt cx="3048000" cy="3238500"/>
          </a:xfrm>
        </p:grpSpPr>
        <p:sp>
          <p:nvSpPr>
            <p:cNvPr id="83" name="Google Shape;83;p16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228600" y="228600"/>
              <a:ext cx="2590800" cy="2781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EA580C"/>
                  </a:solidFill>
                  <a:latin typeface="Inter"/>
                  <a:ea typeface="Inter"/>
                  <a:cs typeface="Inter"/>
                  <a:sym typeface="Inter"/>
                </a:rPr>
                <a:t>DATA INGESTION</a:t>
              </a:r>
              <a:endParaRPr sz="11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8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Google Earth Engine</a:t>
              </a:r>
              <a:endParaRPr sz="11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We have extracted high-resolution environmental data directly from the Google Earth Engine platform, spanning multiple satellite constellations and climate reanalysis streams to power our predictive modeling.</a:t>
              </a:r>
              <a:endParaRPr sz="11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4191000" y="1381125"/>
            <a:ext cx="4191000" cy="3238500"/>
            <a:chOff x="0" y="0"/>
            <a:chExt cx="4191000" cy="3238500"/>
          </a:xfrm>
        </p:grpSpPr>
        <p:sp>
          <p:nvSpPr>
            <p:cNvPr id="86" name="Google Shape;86;p16"/>
            <p:cNvSpPr/>
            <p:nvPr/>
          </p:nvSpPr>
          <p:spPr>
            <a:xfrm>
              <a:off x="0" y="0"/>
              <a:ext cx="4191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0" y="0"/>
              <a:ext cx="4191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01  </a:t>
              </a:r>
              <a:r>
                <a:rPr lang="en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Copernicus DEM</a:t>
              </a:r>
              <a:endParaRPr sz="110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228600" marR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Terrain Surface &amp; Slope Acceleration - 30 m (Aggregated to 0.25°)</a:t>
              </a:r>
              <a:endParaRPr sz="105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02  </a:t>
              </a:r>
              <a:r>
                <a:rPr lang="en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Sentinel 2</a:t>
              </a:r>
              <a:endParaRPr sz="110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228600" marR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Vegetation Health &amp; Moisture Indices - 10–20 m / ~5-day Revisit</a:t>
              </a:r>
              <a:endParaRPr sz="105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03  </a:t>
              </a:r>
              <a:r>
                <a:rPr lang="en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Sentinel 5P</a:t>
              </a:r>
              <a:endParaRPr sz="110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228600" marR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Atmospheric Composition - 3.5 km × 5.5 km</a:t>
              </a:r>
              <a:endParaRPr sz="105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04  </a:t>
              </a:r>
              <a:r>
                <a:rPr lang="en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ERA5</a:t>
              </a:r>
              <a:endParaRPr sz="110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228600" marR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Atmospheric &amp; Surface Weather - 0.25° Grid / Daily (5d lag)</a:t>
              </a:r>
              <a:endParaRPr sz="105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EA580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05  </a:t>
              </a:r>
              <a:r>
                <a:rPr lang="en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FIRMS</a:t>
              </a:r>
              <a:endParaRPr sz="110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228600" marR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Ground-Truth Target Fire Labels - 1km / Daily</a:t>
              </a:r>
              <a:endParaRPr sz="1050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762000" y="428625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Dataset Specifications</a:t>
            </a:r>
            <a:endParaRPr sz="10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2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Data Range &amp; Split</a:t>
            </a:r>
            <a:endParaRPr sz="10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915325" y="1487425"/>
            <a:ext cx="3162300" cy="278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GEOGRAPHY &amp; RESOLUTION</a:t>
            </a:r>
            <a:endParaRPr sz="11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Spatial Parameters</a:t>
            </a:r>
            <a:endParaRPr sz="11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California Focus</a:t>
            </a:r>
            <a:br>
              <a:rPr lang="en" sz="11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Analysis is restricted strictly to the California state boundary.</a:t>
            </a:r>
            <a:endParaRPr sz="11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Grid Resolution</a:t>
            </a:r>
            <a:br>
              <a:rPr lang="en" sz="11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ERA5 atmospheric reanalysis grid cells at 0.25-degree resolution.</a:t>
            </a:r>
            <a:endParaRPr sz="11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Training Zones</a:t>
            </a:r>
            <a:br>
              <a:rPr lang="en" sz="1100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0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and medium hazard fire zones selected specifically for training.</a:t>
            </a:r>
            <a:endParaRPr sz="1100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762500" y="1381125"/>
            <a:ext cx="3619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8" b="1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CHRONOLOGICAL SPLIT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665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Temporal Partitioning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3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2019 - 2022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Training Phase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971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 historical data utilized to train the machine learning models. Training is restricted exclusively to May through November, capturing the high-activity months when most wildfires occur.</a:t>
            </a:r>
            <a:endParaRPr sz="971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3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2023 / 2024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Validation &amp; Calibration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971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Intermediate years reserved for validation (2023) and calibration (2024).</a:t>
            </a:r>
            <a:endParaRPr sz="971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3" b="0">
                <a:solidFill>
                  <a:srgbClr val="EA580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2025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Out-of-Sample Testing</a:t>
            </a:r>
            <a:endParaRPr sz="1018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971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Strictly separated test partition to evaluate model forecasting capability.</a:t>
            </a:r>
            <a:endParaRPr sz="971" b="1">
              <a:solidFill>
                <a:srgbClr val="EA580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2" name="Google Shape;102;p18"/>
          <p:cNvCxnSpPr/>
          <p:nvPr/>
        </p:nvCxnSpPr>
        <p:spPr>
          <a:xfrm>
            <a:off x="3429000" y="0"/>
            <a:ext cx="0" cy="51435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18"/>
          <p:cNvSpPr txBox="1"/>
          <p:nvPr/>
        </p:nvSpPr>
        <p:spPr>
          <a:xfrm>
            <a:off x="285750" y="381000"/>
            <a:ext cx="2857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2B6CB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CALIFORNIA SYSTEM</a:t>
            </a:r>
            <a:endParaRPr sz="1000" b="0">
              <a:solidFill>
                <a:srgbClr val="2B6CB0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Unified Data Fusion for Predictive Wildfire Modeling</a:t>
            </a:r>
            <a:endParaRPr sz="2000" b="1">
              <a:solidFill>
                <a:srgbClr val="1A202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04" name="Google Shape;104;p18"/>
          <p:cNvCxnSpPr/>
          <p:nvPr/>
        </p:nvCxnSpPr>
        <p:spPr>
          <a:xfrm>
            <a:off x="285750" y="1905000"/>
            <a:ext cx="2857500" cy="0"/>
          </a:xfrm>
          <a:prstGeom prst="straightConnector1">
            <a:avLst/>
          </a:prstGeom>
          <a:solidFill>
            <a:srgbClr val="FFFFFF"/>
          </a:solidFill>
          <a:ln w="143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18"/>
          <p:cNvSpPr txBox="1"/>
          <p:nvPr/>
        </p:nvSpPr>
        <p:spPr>
          <a:xfrm>
            <a:off x="285750" y="2047875"/>
            <a:ext cx="28575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Our multi-modal pipeline integrates 63 raw features from 4 primary streams:</a:t>
            </a:r>
            <a:endParaRPr sz="11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900"/>
              </a:spcBef>
              <a:spcAft>
                <a:spcPts val="0"/>
              </a:spcAft>
              <a:buClr>
                <a:srgbClr val="2B6CB0"/>
              </a:buClr>
              <a:buSzPts val="1400"/>
              <a:buChar char="●"/>
            </a:pPr>
            <a:r>
              <a:rPr lang="en" sz="10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ERA5 Weather:</a:t>
            </a:r>
            <a:r>
              <a:rPr lang="en"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 25 variables</a:t>
            </a:r>
            <a:endParaRPr sz="1050" b="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450"/>
              </a:spcBef>
              <a:spcAft>
                <a:spcPts val="0"/>
              </a:spcAft>
              <a:buClr>
                <a:srgbClr val="2B6CB0"/>
              </a:buClr>
              <a:buSzPts val="1400"/>
              <a:buChar char="●"/>
            </a:pPr>
            <a:r>
              <a:rPr lang="en" sz="10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Copernicus DEM:</a:t>
            </a:r>
            <a:r>
              <a:rPr lang="en"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 8 terrain features</a:t>
            </a:r>
            <a:endParaRPr sz="1050" b="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450"/>
              </a:spcBef>
              <a:spcAft>
                <a:spcPts val="0"/>
              </a:spcAft>
              <a:buClr>
                <a:srgbClr val="2B6CB0"/>
              </a:buClr>
              <a:buSzPts val="1400"/>
              <a:buChar char="●"/>
            </a:pPr>
            <a:r>
              <a:rPr lang="en" sz="10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Sentinel-2 Optical:</a:t>
            </a:r>
            <a:r>
              <a:rPr lang="en"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 21 spectral bands</a:t>
            </a:r>
            <a:endParaRPr sz="1050" b="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7500" algn="l" rtl="0">
              <a:spcBef>
                <a:spcPts val="450"/>
              </a:spcBef>
              <a:spcAft>
                <a:spcPts val="450"/>
              </a:spcAft>
              <a:buClr>
                <a:srgbClr val="2B6CB0"/>
              </a:buClr>
              <a:buSzPts val="1400"/>
              <a:buChar char="●"/>
            </a:pPr>
            <a:r>
              <a:rPr lang="en" sz="1050" b="0">
                <a:solidFill>
                  <a:srgbClr val="2B6CB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Sentinel-5P Gas:</a:t>
            </a:r>
            <a:r>
              <a:rPr lang="en" sz="1050" b="0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 10 atmospheric cols</a:t>
            </a:r>
            <a:endParaRPr sz="1050" b="0">
              <a:solidFill>
                <a:srgbClr val="1A202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238625" y="571500"/>
            <a:ext cx="4095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>
                <a:solidFill>
                  <a:srgbClr val="2B6CB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PIPELINE RESOLUTION &amp; COVERAGE</a:t>
            </a:r>
            <a:endParaRPr sz="1000" b="0">
              <a:solidFill>
                <a:srgbClr val="2B6CB0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1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Extensive panel coverage spanning California grid cells at approximately 25 km spatial resolution.</a:t>
            </a:r>
            <a:endParaRPr sz="1100" b="0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7" name="Google Shape;107;p18"/>
          <p:cNvCxnSpPr/>
          <p:nvPr/>
        </p:nvCxnSpPr>
        <p:spPr>
          <a:xfrm>
            <a:off x="4238625" y="1333500"/>
            <a:ext cx="40959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8" name="Google Shape;108;p18"/>
          <p:cNvGrpSpPr/>
          <p:nvPr/>
        </p:nvGrpSpPr>
        <p:grpSpPr>
          <a:xfrm>
            <a:off x="4238625" y="1619250"/>
            <a:ext cx="4095825" cy="2476500"/>
            <a:chOff x="0" y="0"/>
            <a:chExt cx="4095825" cy="2476500"/>
          </a:xfrm>
        </p:grpSpPr>
        <p:grpSp>
          <p:nvGrpSpPr>
            <p:cNvPr id="109" name="Google Shape;109;p18"/>
            <p:cNvGrpSpPr/>
            <p:nvPr/>
          </p:nvGrpSpPr>
          <p:grpSpPr>
            <a:xfrm>
              <a:off x="0" y="0"/>
              <a:ext cx="1952700" cy="1143000"/>
              <a:chOff x="0" y="0"/>
              <a:chExt cx="1952700" cy="1143000"/>
            </a:xfrm>
          </p:grpSpPr>
          <p:sp>
            <p:nvSpPr>
              <p:cNvPr id="110" name="Google Shape;110;p18"/>
              <p:cNvSpPr/>
              <p:nvPr/>
            </p:nvSpPr>
            <p:spPr>
              <a:xfrm>
                <a:off x="0" y="0"/>
                <a:ext cx="1952700" cy="11430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8"/>
              <p:cNvSpPr txBox="1"/>
              <p:nvPr/>
            </p:nvSpPr>
            <p:spPr>
              <a:xfrm>
                <a:off x="142875" y="190500"/>
                <a:ext cx="1666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 b="1">
                    <a:solidFill>
                      <a:srgbClr val="2B6CB0"/>
                    </a:solidFill>
                    <a:latin typeface="Inter"/>
                    <a:ea typeface="Inter"/>
                    <a:cs typeface="Inter"/>
                    <a:sym typeface="Inter"/>
                  </a:rPr>
                  <a:t>63</a:t>
                </a:r>
                <a:endParaRPr sz="36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A5568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RAW FEATURES</a:t>
                </a:r>
                <a:endParaRPr sz="900" b="0">
                  <a:solidFill>
                    <a:srgbClr val="4A556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  <p:grpSp>
          <p:nvGrpSpPr>
            <p:cNvPr id="112" name="Google Shape;112;p18"/>
            <p:cNvGrpSpPr/>
            <p:nvPr/>
          </p:nvGrpSpPr>
          <p:grpSpPr>
            <a:xfrm>
              <a:off x="2143125" y="0"/>
              <a:ext cx="1952700" cy="1143000"/>
              <a:chOff x="0" y="0"/>
              <a:chExt cx="1952700" cy="1143000"/>
            </a:xfrm>
          </p:grpSpPr>
          <p:sp>
            <p:nvSpPr>
              <p:cNvPr id="113" name="Google Shape;113;p18"/>
              <p:cNvSpPr/>
              <p:nvPr/>
            </p:nvSpPr>
            <p:spPr>
              <a:xfrm>
                <a:off x="0" y="0"/>
                <a:ext cx="1952700" cy="11430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8"/>
              <p:cNvSpPr txBox="1"/>
              <p:nvPr/>
            </p:nvSpPr>
            <p:spPr>
              <a:xfrm>
                <a:off x="142875" y="190500"/>
                <a:ext cx="1666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 b="1">
                    <a:solidFill>
                      <a:srgbClr val="2B6CB0"/>
                    </a:solidFill>
                    <a:latin typeface="Inter"/>
                    <a:ea typeface="Inter"/>
                    <a:cs typeface="Inter"/>
                    <a:sym typeface="Inter"/>
                  </a:rPr>
                  <a:t>4</a:t>
                </a:r>
                <a:endParaRPr sz="36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A5568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DATA SOURCES</a:t>
                </a:r>
                <a:endParaRPr sz="900" b="0">
                  <a:solidFill>
                    <a:srgbClr val="4A556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  <p:grpSp>
          <p:nvGrpSpPr>
            <p:cNvPr id="115" name="Google Shape;115;p18"/>
            <p:cNvGrpSpPr/>
            <p:nvPr/>
          </p:nvGrpSpPr>
          <p:grpSpPr>
            <a:xfrm>
              <a:off x="0" y="1333500"/>
              <a:ext cx="1952700" cy="1143000"/>
              <a:chOff x="0" y="0"/>
              <a:chExt cx="1952700" cy="1143000"/>
            </a:xfrm>
          </p:grpSpPr>
          <p:sp>
            <p:nvSpPr>
              <p:cNvPr id="116" name="Google Shape;116;p18"/>
              <p:cNvSpPr/>
              <p:nvPr/>
            </p:nvSpPr>
            <p:spPr>
              <a:xfrm>
                <a:off x="0" y="0"/>
                <a:ext cx="1952700" cy="11430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8"/>
              <p:cNvSpPr txBox="1"/>
              <p:nvPr/>
            </p:nvSpPr>
            <p:spPr>
              <a:xfrm>
                <a:off x="142875" y="190500"/>
                <a:ext cx="1666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 b="1">
                    <a:solidFill>
                      <a:srgbClr val="2B6CB0"/>
                    </a:solidFill>
                    <a:latin typeface="Inter"/>
                    <a:ea typeface="Inter"/>
                    <a:cs typeface="Inter"/>
                    <a:sym typeface="Inter"/>
                  </a:rPr>
                  <a:t>2,557</a:t>
                </a:r>
                <a:endParaRPr sz="36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A5568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PANEL DAYS</a:t>
                </a:r>
                <a:endParaRPr sz="900" b="0">
                  <a:solidFill>
                    <a:srgbClr val="4A556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  <p:grpSp>
          <p:nvGrpSpPr>
            <p:cNvPr id="118" name="Google Shape;118;p18"/>
            <p:cNvGrpSpPr/>
            <p:nvPr/>
          </p:nvGrpSpPr>
          <p:grpSpPr>
            <a:xfrm>
              <a:off x="2143125" y="1333500"/>
              <a:ext cx="1952700" cy="1143000"/>
              <a:chOff x="0" y="0"/>
              <a:chExt cx="1952700" cy="1143000"/>
            </a:xfrm>
          </p:grpSpPr>
          <p:sp>
            <p:nvSpPr>
              <p:cNvPr id="119" name="Google Shape;119;p18"/>
              <p:cNvSpPr/>
              <p:nvPr/>
            </p:nvSpPr>
            <p:spPr>
              <a:xfrm>
                <a:off x="0" y="0"/>
                <a:ext cx="1952700" cy="11430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8"/>
              <p:cNvSpPr txBox="1"/>
              <p:nvPr/>
            </p:nvSpPr>
            <p:spPr>
              <a:xfrm>
                <a:off x="142875" y="190500"/>
                <a:ext cx="1666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600" b="1">
                    <a:solidFill>
                      <a:srgbClr val="2B6CB0"/>
                    </a:solidFill>
                    <a:latin typeface="Inter"/>
                    <a:ea typeface="Inter"/>
                    <a:cs typeface="Inter"/>
                    <a:sym typeface="Inter"/>
                  </a:rPr>
                  <a:t>672</a:t>
                </a:r>
                <a:endParaRPr sz="36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A5568"/>
                    </a:solidFill>
                    <a:latin typeface="Roboto Mono Medium"/>
                    <a:ea typeface="Roboto Mono Medium"/>
                    <a:cs typeface="Roboto Mono Medium"/>
                    <a:sym typeface="Roboto Mono Medium"/>
                  </a:rPr>
                  <a:t>GRID CELLS</a:t>
                </a:r>
                <a:endParaRPr sz="900" b="0">
                  <a:solidFill>
                    <a:srgbClr val="4A5568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endParaRPr>
              </a:p>
            </p:txBody>
          </p:sp>
        </p:grpSp>
      </p:grpSp>
      <p:grpSp>
        <p:nvGrpSpPr>
          <p:cNvPr id="121" name="Google Shape;121;p18"/>
          <p:cNvGrpSpPr/>
          <p:nvPr/>
        </p:nvGrpSpPr>
        <p:grpSpPr>
          <a:xfrm>
            <a:off x="285750" y="3667125"/>
            <a:ext cx="2857500" cy="1095300"/>
            <a:chOff x="0" y="0"/>
            <a:chExt cx="2857500" cy="1095300"/>
          </a:xfrm>
        </p:grpSpPr>
        <p:sp>
          <p:nvSpPr>
            <p:cNvPr id="122" name="Google Shape;122;p18"/>
            <p:cNvSpPr/>
            <p:nvPr/>
          </p:nvSpPr>
          <p:spPr>
            <a:xfrm>
              <a:off x="0" y="0"/>
              <a:ext cx="2857500" cy="1095300"/>
            </a:xfrm>
            <a:prstGeom prst="rect">
              <a:avLst/>
            </a:prstGeom>
            <a:solidFill>
              <a:srgbClr val="FFF5F5"/>
            </a:solidFill>
            <a:ln w="9525" cap="flat" cmpd="sng">
              <a:solidFill>
                <a:srgbClr val="C5303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18"/>
            <p:cNvGrpSpPr/>
            <p:nvPr/>
          </p:nvGrpSpPr>
          <p:grpSpPr>
            <a:xfrm>
              <a:off x="161925" y="161925"/>
              <a:ext cx="266700" cy="247800"/>
              <a:chOff x="19050" y="19050"/>
              <a:chExt cx="266700" cy="247800"/>
            </a:xfrm>
          </p:grpSpPr>
          <p:sp>
            <p:nvSpPr>
              <p:cNvPr id="124" name="Google Shape;124;p18"/>
              <p:cNvSpPr/>
              <p:nvPr/>
            </p:nvSpPr>
            <p:spPr>
              <a:xfrm>
                <a:off x="138113" y="214313"/>
                <a:ext cx="28500" cy="28500"/>
              </a:xfrm>
              <a:prstGeom prst="ellipse">
                <a:avLst/>
              </a:prstGeom>
              <a:solidFill>
                <a:srgbClr val="C5303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" name="Google Shape;125;p18"/>
              <p:cNvCxnSpPr/>
              <p:nvPr/>
            </p:nvCxnSpPr>
            <p:spPr>
              <a:xfrm>
                <a:off x="152400" y="95250"/>
                <a:ext cx="0" cy="954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C5303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6" name="Google Shape;126;p18"/>
              <p:cNvSpPr/>
              <p:nvPr/>
            </p:nvSpPr>
            <p:spPr>
              <a:xfrm>
                <a:off x="19050" y="19050"/>
                <a:ext cx="266700" cy="247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C5303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7" name="Google Shape;127;p18"/>
            <p:cNvSpPr txBox="1"/>
            <p:nvPr/>
          </p:nvSpPr>
          <p:spPr>
            <a:xfrm>
              <a:off x="523875" y="142875"/>
              <a:ext cx="2190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C53030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DATA CHALLENGE</a:t>
              </a:r>
              <a:endParaRPr sz="950" b="0">
                <a:solidFill>
                  <a:srgbClr val="C53030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C53030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Missing data</a:t>
              </a:r>
              <a:endParaRPr sz="1000">
                <a:solidFill>
                  <a:srgbClr val="C530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Class Imbalance</a:t>
              </a:r>
              <a:endParaRPr sz="1000">
                <a:solidFill>
                  <a:srgbClr val="C530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0"/>
                </a:spcBef>
                <a:spcAft>
                  <a:spcPts val="0"/>
                </a:spcAft>
                <a:buClr>
                  <a:srgbClr val="C53030"/>
                </a:buClr>
                <a:buSzPts val="1000"/>
                <a:buFont typeface="Inter"/>
                <a:buChar char="●"/>
              </a:pPr>
              <a:r>
                <a:rPr lang="en" sz="1000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Resolution differences</a:t>
              </a:r>
              <a:endParaRPr sz="1000">
                <a:solidFill>
                  <a:srgbClr val="C5303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381000" y="3333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Preprocessing &amp; Cleaning Pipeline</a:t>
            </a:r>
            <a:endParaRPr sz="2200" b="1">
              <a:solidFill>
                <a:srgbClr val="1A202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381000" y="1095375"/>
            <a:ext cx="3429000" cy="228600"/>
            <a:chOff x="0" y="0"/>
            <a:chExt cx="3429000" cy="228600"/>
          </a:xfrm>
        </p:grpSpPr>
        <p:sp>
          <p:nvSpPr>
            <p:cNvPr id="168" name="Google Shape;168;p20"/>
            <p:cNvSpPr/>
            <p:nvPr/>
          </p:nvSpPr>
          <p:spPr>
            <a:xfrm>
              <a:off x="0" y="0"/>
              <a:ext cx="3429000" cy="228600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0" y="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2B6CB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RAW INPUT: 63 COLUMNS ACROSS 672 GRID CELLS</a:t>
              </a:r>
              <a:endParaRPr sz="850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>
            <a:off x="381000" y="1476375"/>
            <a:ext cx="2667000" cy="2857500"/>
            <a:chOff x="0" y="0"/>
            <a:chExt cx="2667000" cy="2857500"/>
          </a:xfrm>
        </p:grpSpPr>
        <p:sp>
          <p:nvSpPr>
            <p:cNvPr id="171" name="Google Shape;171;p20"/>
            <p:cNvSpPr/>
            <p:nvPr/>
          </p:nvSpPr>
          <p:spPr>
            <a:xfrm>
              <a:off x="0" y="0"/>
              <a:ext cx="2667000" cy="2857500"/>
            </a:xfrm>
            <a:prstGeom prst="roundRect">
              <a:avLst>
                <a:gd name="adj" fmla="val 1428"/>
              </a:avLst>
            </a:prstGeom>
            <a:solidFill>
              <a:srgbClr val="F7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2" name="Google Shape;172;p20"/>
            <p:cNvCxnSpPr/>
            <p:nvPr/>
          </p:nvCxnSpPr>
          <p:spPr>
            <a:xfrm>
              <a:off x="0" y="0"/>
              <a:ext cx="26670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3" name="Google Shape;173;p20"/>
            <p:cNvSpPr txBox="1"/>
            <p:nvPr/>
          </p:nvSpPr>
          <p:spPr>
            <a:xfrm>
              <a:off x="190500" y="190500"/>
              <a:ext cx="2286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2B6CB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STEP 01</a:t>
              </a:r>
              <a:endParaRPr sz="950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Data Cleaning</a:t>
              </a:r>
              <a:endParaRPr sz="140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Ensures baseline data integrity by performing critical sanitation operations:</a:t>
              </a:r>
              <a:endParaRPr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Inter"/>
                <a:buChar char="●"/>
              </a:pP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Drops constant/redundant columns.</a:t>
              </a:r>
              <a:endParaRPr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Inter"/>
                <a:buChar char="●"/>
              </a:pP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Clips soil moisture values based on physical and atmospheric constraints.</a:t>
              </a:r>
              <a:endParaRPr sz="9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" name="Google Shape;174;p20"/>
          <p:cNvGrpSpPr/>
          <p:nvPr/>
        </p:nvGrpSpPr>
        <p:grpSpPr>
          <a:xfrm>
            <a:off x="3238500" y="1476375"/>
            <a:ext cx="2667000" cy="2857500"/>
            <a:chOff x="0" y="0"/>
            <a:chExt cx="2667000" cy="2857500"/>
          </a:xfrm>
        </p:grpSpPr>
        <p:sp>
          <p:nvSpPr>
            <p:cNvPr id="175" name="Google Shape;175;p20"/>
            <p:cNvSpPr/>
            <p:nvPr/>
          </p:nvSpPr>
          <p:spPr>
            <a:xfrm>
              <a:off x="0" y="0"/>
              <a:ext cx="2667000" cy="2857500"/>
            </a:xfrm>
            <a:prstGeom prst="roundRect">
              <a:avLst>
                <a:gd name="adj" fmla="val 1428"/>
              </a:avLst>
            </a:prstGeom>
            <a:solidFill>
              <a:srgbClr val="F7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6" name="Google Shape;176;p20"/>
            <p:cNvCxnSpPr/>
            <p:nvPr/>
          </p:nvCxnSpPr>
          <p:spPr>
            <a:xfrm>
              <a:off x="0" y="0"/>
              <a:ext cx="26670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7" name="Google Shape;177;p20"/>
            <p:cNvSpPr txBox="1"/>
            <p:nvPr/>
          </p:nvSpPr>
          <p:spPr>
            <a:xfrm>
              <a:off x="190500" y="190500"/>
              <a:ext cx="22860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2B6CB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STEP 02</a:t>
              </a:r>
              <a:endParaRPr sz="950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KNN Imputation</a:t>
              </a:r>
              <a:endParaRPr sz="950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Resolves observational gaps using Spatial-Temporal K-Nearest Neighbors:</a:t>
              </a:r>
              <a:endParaRPr sz="950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Inter"/>
                <a:buChar char="●"/>
              </a:pP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Addresses Sentinel-2 optical cloud cover and orbital gaps.</a:t>
              </a:r>
              <a:endParaRPr sz="9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Inter"/>
                <a:buChar char="●"/>
              </a:pP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Leverages spatial autocorrelation to reconstruct missing </a:t>
              </a: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indices without</a:t>
              </a: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zero/median bias</a:t>
              </a: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. Backed by Literature: </a:t>
              </a:r>
              <a:r>
                <a:rPr lang="en" sz="95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Liu et al., Remote Sensing 2020</a:t>
              </a: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 (</a:t>
              </a:r>
              <a:r>
                <a:rPr lang="en" sz="950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5"/>
                </a:rPr>
                <a:t>MDPI Article 1884</a:t>
              </a: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95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6096000" y="1476375"/>
            <a:ext cx="2667000" cy="2857500"/>
            <a:chOff x="0" y="0"/>
            <a:chExt cx="2667000" cy="2857500"/>
          </a:xfrm>
        </p:grpSpPr>
        <p:sp>
          <p:nvSpPr>
            <p:cNvPr id="179" name="Google Shape;179;p20"/>
            <p:cNvSpPr/>
            <p:nvPr/>
          </p:nvSpPr>
          <p:spPr>
            <a:xfrm>
              <a:off x="0" y="0"/>
              <a:ext cx="2667000" cy="2857500"/>
            </a:xfrm>
            <a:prstGeom prst="roundRect">
              <a:avLst>
                <a:gd name="adj" fmla="val 1428"/>
              </a:avLst>
            </a:prstGeom>
            <a:solidFill>
              <a:srgbClr val="F7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0" name="Google Shape;180;p20"/>
            <p:cNvCxnSpPr/>
            <p:nvPr/>
          </p:nvCxnSpPr>
          <p:spPr>
            <a:xfrm>
              <a:off x="0" y="0"/>
              <a:ext cx="26670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C5303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1" name="Google Shape;181;p20"/>
            <p:cNvSpPr txBox="1"/>
            <p:nvPr/>
          </p:nvSpPr>
          <p:spPr>
            <a:xfrm>
              <a:off x="190500" y="190500"/>
              <a:ext cx="22860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C5303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STEP 03</a:t>
              </a:r>
              <a:endParaRPr sz="950" b="0">
                <a:solidFill>
                  <a:srgbClr val="C5303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Risk Stratification</a:t>
              </a:r>
              <a:endParaRPr sz="950" b="0">
                <a:solidFill>
                  <a:srgbClr val="C5303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Focuses modeling efforts on highly vulnerable, active fire zones:</a:t>
              </a:r>
              <a:endParaRPr sz="950" b="0">
                <a:solidFill>
                  <a:srgbClr val="C5303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C53030"/>
                </a:buClr>
                <a:buSzPts val="950"/>
                <a:buFont typeface="Roboto Mono"/>
                <a:buChar char="●"/>
              </a:pP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Filters study domain down to High/Medium risk classes</a:t>
              </a: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lang="en" sz="950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6"/>
                </a:rPr>
                <a:t>data source</a:t>
              </a:r>
              <a:r>
                <a:rPr lang="en" sz="9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950" b="0">
                <a:solidFill>
                  <a:srgbClr val="C5303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C53030"/>
                </a:buClr>
                <a:buSzPts val="950"/>
                <a:buFont typeface="Roboto Mono"/>
                <a:buChar char="●"/>
              </a:pPr>
              <a:r>
                <a:rPr lang="en" sz="95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Reduces grid footprint from 672 original cells to 437 .</a:t>
              </a:r>
              <a:endParaRPr sz="950" b="0">
                <a:solidFill>
                  <a:srgbClr val="C5303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1"/>
          <p:cNvGrpSpPr/>
          <p:nvPr/>
        </p:nvGrpSpPr>
        <p:grpSpPr>
          <a:xfrm>
            <a:off x="381000" y="333375"/>
            <a:ext cx="8382000" cy="762000"/>
            <a:chOff x="0" y="0"/>
            <a:chExt cx="8382000" cy="762000"/>
          </a:xfrm>
        </p:grpSpPr>
        <p:sp>
          <p:nvSpPr>
            <p:cNvPr id="187" name="Google Shape;187;p21"/>
            <p:cNvSpPr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1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1A202C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Feature Engineering &amp; Pruning Pipeline</a:t>
              </a:r>
              <a:endParaRPr sz="950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</p:grpSp>
      <p:grpSp>
        <p:nvGrpSpPr>
          <p:cNvPr id="189" name="Google Shape;189;p21"/>
          <p:cNvGrpSpPr/>
          <p:nvPr/>
        </p:nvGrpSpPr>
        <p:grpSpPr>
          <a:xfrm>
            <a:off x="381000" y="1095375"/>
            <a:ext cx="3619500" cy="228600"/>
            <a:chOff x="0" y="0"/>
            <a:chExt cx="3619500" cy="228600"/>
          </a:xfrm>
        </p:grpSpPr>
        <p:sp>
          <p:nvSpPr>
            <p:cNvPr id="190" name="Google Shape;190;p21"/>
            <p:cNvSpPr/>
            <p:nvPr/>
          </p:nvSpPr>
          <p:spPr>
            <a:xfrm>
              <a:off x="0" y="0"/>
              <a:ext cx="3619500" cy="228600"/>
            </a:xfrm>
            <a:prstGeom prst="roundRect">
              <a:avLst>
                <a:gd name="adj" fmla="val 16666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1"/>
            <p:cNvSpPr txBox="1"/>
            <p:nvPr/>
          </p:nvSpPr>
          <p:spPr>
            <a:xfrm>
              <a:off x="0" y="0"/>
              <a:ext cx="361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2B6CB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FEATURE CONTRACT: 107 CANDIDATES → 86 PRODUCTION</a:t>
              </a:r>
              <a:endParaRPr sz="850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</p:txBody>
        </p:sp>
      </p:grpSp>
      <p:grpSp>
        <p:nvGrpSpPr>
          <p:cNvPr id="192" name="Google Shape;192;p21"/>
          <p:cNvGrpSpPr/>
          <p:nvPr/>
        </p:nvGrpSpPr>
        <p:grpSpPr>
          <a:xfrm>
            <a:off x="381000" y="1476375"/>
            <a:ext cx="4095900" cy="2857500"/>
            <a:chOff x="0" y="0"/>
            <a:chExt cx="4095900" cy="2857500"/>
          </a:xfrm>
        </p:grpSpPr>
        <p:sp>
          <p:nvSpPr>
            <p:cNvPr id="193" name="Google Shape;193;p21"/>
            <p:cNvSpPr/>
            <p:nvPr/>
          </p:nvSpPr>
          <p:spPr>
            <a:xfrm>
              <a:off x="0" y="0"/>
              <a:ext cx="4095900" cy="2857500"/>
            </a:xfrm>
            <a:prstGeom prst="roundRect">
              <a:avLst>
                <a:gd name="adj" fmla="val 1333"/>
              </a:avLst>
            </a:prstGeom>
            <a:solidFill>
              <a:srgbClr val="F7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4" name="Google Shape;194;p21"/>
            <p:cNvCxnSpPr/>
            <p:nvPr/>
          </p:nvCxnSpPr>
          <p:spPr>
            <a:xfrm>
              <a:off x="0" y="0"/>
              <a:ext cx="40959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5" name="Google Shape;195;p21"/>
            <p:cNvSpPr txBox="1"/>
            <p:nvPr/>
          </p:nvSpPr>
          <p:spPr>
            <a:xfrm>
              <a:off x="190500" y="19050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9" b="0">
                  <a:solidFill>
                    <a:srgbClr val="2B6CB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STEP 04</a:t>
              </a:r>
              <a:endParaRPr sz="879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295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Feature Engineering &amp; Causality</a:t>
              </a:r>
              <a:endParaRPr sz="879" b="0">
                <a:solidFill>
                  <a:srgbClr val="2B6CB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Temporal causality contracts applied with minimum 2-day lags to prevent lookahead bias:</a:t>
              </a:r>
              <a:endParaRPr sz="925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4401" algn="l" rtl="0">
                <a:spcBef>
                  <a:spcPts val="1000"/>
                </a:spcBef>
                <a:spcAft>
                  <a:spcPts val="0"/>
                </a:spcAft>
                <a:buClr>
                  <a:srgbClr val="4A5568"/>
                </a:buClr>
                <a:buSzPts val="879"/>
                <a:buFont typeface="Inter"/>
                <a:buChar char="●"/>
              </a:pPr>
              <a:r>
                <a:rPr lang="en" sz="879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FIRMS neighboring cells &amp; historical cells</a:t>
              </a:r>
              <a:endParaRPr sz="879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4401" algn="l" rtl="0">
                <a:spcBef>
                  <a:spcPts val="400"/>
                </a:spcBef>
                <a:spcAft>
                  <a:spcPts val="0"/>
                </a:spcAft>
                <a:buClr>
                  <a:srgbClr val="4A5568"/>
                </a:buClr>
                <a:buSzPts val="879"/>
                <a:buFont typeface="Inter"/>
                <a:buChar char="●"/>
              </a:pPr>
              <a:r>
                <a:rPr lang="en" sz="879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ERA5 14-day &amp; 30-day meteorological rollups</a:t>
              </a:r>
              <a:endParaRPr sz="879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4401" algn="l" rtl="0">
                <a:spcBef>
                  <a:spcPts val="400"/>
                </a:spcBef>
                <a:spcAft>
                  <a:spcPts val="0"/>
                </a:spcAft>
                <a:buClr>
                  <a:srgbClr val="4A5568"/>
                </a:buClr>
                <a:buSzPts val="879"/>
                <a:buFont typeface="Inter"/>
                <a:buChar char="●"/>
              </a:pPr>
              <a:r>
                <a:rPr lang="en" sz="879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Sentinel 2 - 5-day observation window</a:t>
              </a:r>
              <a:endParaRPr sz="879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sz="87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222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   107                                  </a:t>
              </a:r>
              <a:r>
                <a:rPr lang="en" sz="222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2d</a:t>
              </a:r>
              <a:endParaRPr sz="2220" b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694">
                  <a:solidFill>
                    <a:srgbClr val="4A556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Candidate Features                               Temporal Lag Contract</a:t>
              </a:r>
              <a:endParaRPr sz="222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94" b="0">
                  <a:solidFill>
                    <a:srgbClr val="4A556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</a:t>
              </a:r>
              <a:endParaRPr sz="694" b="0">
                <a:solidFill>
                  <a:srgbClr val="4A556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94" b="0">
                <a:solidFill>
                  <a:srgbClr val="4A556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96" name="Google Shape;196;p21"/>
          <p:cNvGrpSpPr/>
          <p:nvPr/>
        </p:nvGrpSpPr>
        <p:grpSpPr>
          <a:xfrm>
            <a:off x="4667250" y="1476375"/>
            <a:ext cx="4095900" cy="2857500"/>
            <a:chOff x="0" y="0"/>
            <a:chExt cx="4095900" cy="2857500"/>
          </a:xfrm>
        </p:grpSpPr>
        <p:sp>
          <p:nvSpPr>
            <p:cNvPr id="197" name="Google Shape;197;p21"/>
            <p:cNvSpPr/>
            <p:nvPr/>
          </p:nvSpPr>
          <p:spPr>
            <a:xfrm>
              <a:off x="0" y="0"/>
              <a:ext cx="4095900" cy="2857500"/>
            </a:xfrm>
            <a:prstGeom prst="roundRect">
              <a:avLst>
                <a:gd name="adj" fmla="val 1333"/>
              </a:avLst>
            </a:prstGeom>
            <a:solidFill>
              <a:srgbClr val="F7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8" name="Google Shape;198;p21"/>
            <p:cNvCxnSpPr/>
            <p:nvPr/>
          </p:nvCxnSpPr>
          <p:spPr>
            <a:xfrm>
              <a:off x="0" y="0"/>
              <a:ext cx="40959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C5303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9" name="Google Shape;199;p21"/>
            <p:cNvSpPr txBox="1"/>
            <p:nvPr/>
          </p:nvSpPr>
          <p:spPr>
            <a:xfrm>
              <a:off x="190500" y="19050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C53030"/>
                  </a:solidFill>
                  <a:latin typeface="Roboto Mono SemiBold"/>
                  <a:ea typeface="Roboto Mono SemiBold"/>
                  <a:cs typeface="Roboto Mono SemiBold"/>
                  <a:sym typeface="Roboto Mono SemiBold"/>
                </a:rPr>
                <a:t>STEP 05</a:t>
              </a:r>
              <a:endParaRPr sz="950" b="0">
                <a:solidFill>
                  <a:srgbClr val="C53030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TreeSHAP Feature Pruning</a:t>
              </a:r>
              <a:endParaRPr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Identifies and eliminates lowest contribution variables to secure a highly refined:</a:t>
              </a:r>
              <a:endParaRPr sz="1000" b="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  20%                              </a:t>
              </a:r>
              <a:r>
                <a:rPr lang="en" sz="24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86</a:t>
              </a:r>
              <a:endParaRPr sz="2400" b="1">
                <a:solidFill>
                  <a:srgbClr val="C5303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A556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Features Pruned</a:t>
              </a:r>
              <a:r>
                <a:rPr lang="en" sz="750">
                  <a:solidFill>
                    <a:srgbClr val="4A556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Active Production</a:t>
              </a:r>
              <a:endParaRPr sz="750">
                <a:solidFill>
                  <a:srgbClr val="4A556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4A556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						    Features</a:t>
              </a:r>
              <a:endParaRPr sz="750">
                <a:solidFill>
                  <a:srgbClr val="4A556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50" b="0">
                <a:solidFill>
                  <a:srgbClr val="4A556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950" b="0" i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Minimizes multicollinearity and resource usage while preserving predictive performance.</a:t>
              </a:r>
              <a:endParaRPr sz="950" b="0" i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0" name="Google Shape;200;p21"/>
          <p:cNvSpPr/>
          <p:nvPr/>
        </p:nvSpPr>
        <p:spPr>
          <a:xfrm>
            <a:off x="381000" y="466725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/>
        </p:nvSpPr>
        <p:spPr>
          <a:xfrm>
            <a:off x="381000" y="33337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50"/>
              </a:spcAft>
              <a:buNone/>
            </a:pPr>
            <a:r>
              <a:rPr lang="en" sz="2200" b="1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Why LightGBM as Champion Algorithm?</a:t>
            </a:r>
            <a:endParaRPr sz="2200" b="1">
              <a:solidFill>
                <a:srgbClr val="1A202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381000" y="46672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50"/>
              </a:spcAft>
              <a:buNone/>
            </a:pPr>
            <a:endParaRPr sz="850" b="0">
              <a:solidFill>
                <a:srgbClr val="A0AEC0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226" name="Google Shape;226;p23"/>
          <p:cNvGrpSpPr/>
          <p:nvPr/>
        </p:nvGrpSpPr>
        <p:grpSpPr>
          <a:xfrm>
            <a:off x="381000" y="1143000"/>
            <a:ext cx="4048200" cy="3238500"/>
            <a:chOff x="0" y="0"/>
            <a:chExt cx="4048200" cy="3238500"/>
          </a:xfrm>
        </p:grpSpPr>
        <p:sp>
          <p:nvSpPr>
            <p:cNvPr id="227" name="Google Shape;227;p23"/>
            <p:cNvSpPr/>
            <p:nvPr/>
          </p:nvSpPr>
          <p:spPr>
            <a:xfrm>
              <a:off x="0" y="0"/>
              <a:ext cx="4048200" cy="3238500"/>
            </a:xfrm>
            <a:prstGeom prst="roundRect">
              <a:avLst>
                <a:gd name="adj" fmla="val 1176"/>
              </a:avLst>
            </a:prstGeom>
            <a:solidFill>
              <a:srgbClr val="F7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8" name="Google Shape;228;p23"/>
            <p:cNvCxnSpPr/>
            <p:nvPr/>
          </p:nvCxnSpPr>
          <p:spPr>
            <a:xfrm>
              <a:off x="0" y="0"/>
              <a:ext cx="40482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2B6CB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9" name="Google Shape;229;p23"/>
            <p:cNvSpPr txBox="1"/>
            <p:nvPr/>
          </p:nvSpPr>
          <p:spPr>
            <a:xfrm>
              <a:off x="142875" y="142875"/>
              <a:ext cx="37623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TECHNICAL ADVANTAGES</a:t>
              </a:r>
              <a:endParaRPr sz="90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None/>
              </a:pPr>
              <a:endParaRPr sz="90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• Efficiency on Grids:</a:t>
              </a:r>
              <a:r>
                <a:rPr lang="en" sz="85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Faster training speed and lower memory footprint on high-dimensional multi-sensor grids.</a:t>
              </a:r>
              <a:endParaRPr sz="85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• Data Robustness:</a:t>
              </a:r>
              <a:r>
                <a:rPr lang="en" sz="85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Native handling of continuous satellite features and sparse missing values without complex imputation.</a:t>
              </a:r>
              <a:endParaRPr sz="85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C5303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BACKED BY LITERATURE</a:t>
              </a:r>
              <a:endParaRPr sz="900" b="1">
                <a:solidFill>
                  <a:srgbClr val="C5303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MDPI Remote Sensing (2022)</a:t>
              </a:r>
              <a:r>
                <a:rPr lang="en" sz="85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" sz="900" b="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proved LightGBM outperforms Random Forest and Logistic Regression.</a:t>
              </a:r>
              <a:endParaRPr sz="85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53030"/>
                  </a:solidFill>
                  <a:latin typeface="Inter"/>
                  <a:ea typeface="Inter"/>
                  <a:cs typeface="Inter"/>
                  <a:sym typeface="Inter"/>
                </a:rPr>
                <a:t>0.935					88.8%</a:t>
              </a:r>
              <a:endParaRPr sz="85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ROC-AUC                                                                                                Accuracy</a:t>
              </a:r>
              <a:endParaRPr sz="800" b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endParaRPr sz="800" b="1" i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800" b="1" i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"A Forest Fire Susceptibility Modeling Approach Based on Light Gradient Boosting Machine Algorithm"</a:t>
              </a:r>
              <a:endParaRPr sz="800" b="1" i="1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2B6CB0"/>
                  </a:solidFill>
                  <a:uFill>
                    <a:noFill/>
                  </a:uFill>
                  <a:latin typeface="Inter"/>
                  <a:ea typeface="Inter"/>
                  <a:cs typeface="Inter"/>
                  <a:sym typeface="Inter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Read Published Research Paper →</a:t>
              </a:r>
              <a:endParaRPr sz="85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30" name="Google Shape;230;p23"/>
          <p:cNvGrpSpPr/>
          <p:nvPr/>
        </p:nvGrpSpPr>
        <p:grpSpPr>
          <a:xfrm>
            <a:off x="4714875" y="1143000"/>
            <a:ext cx="4048200" cy="3238500"/>
            <a:chOff x="0" y="0"/>
            <a:chExt cx="4048200" cy="3238500"/>
          </a:xfrm>
        </p:grpSpPr>
        <p:sp>
          <p:nvSpPr>
            <p:cNvPr id="231" name="Google Shape;231;p23"/>
            <p:cNvSpPr/>
            <p:nvPr/>
          </p:nvSpPr>
          <p:spPr>
            <a:xfrm>
              <a:off x="0" y="0"/>
              <a:ext cx="4048200" cy="3238500"/>
            </a:xfrm>
            <a:prstGeom prst="roundRect">
              <a:avLst>
                <a:gd name="adj" fmla="val 1176"/>
              </a:avLst>
            </a:prstGeom>
            <a:solidFill>
              <a:srgbClr val="F7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2" name="Google Shape;232;p23"/>
            <p:cNvCxnSpPr/>
            <p:nvPr/>
          </p:nvCxnSpPr>
          <p:spPr>
            <a:xfrm>
              <a:off x="0" y="0"/>
              <a:ext cx="40482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C5303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23"/>
            <p:cNvSpPr txBox="1"/>
            <p:nvPr/>
          </p:nvSpPr>
          <p:spPr>
            <a:xfrm>
              <a:off x="142875" y="142875"/>
              <a:ext cx="37623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C5303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WHY OUR ROADMAP OUTPERFORMS THE LITERATURE</a:t>
              </a:r>
              <a:endParaRPr sz="900" b="1">
                <a:solidFill>
                  <a:srgbClr val="C5303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endParaRPr sz="900" b="1">
                <a:solidFill>
                  <a:srgbClr val="C5303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A. 50/50 Balance vs. Real-World Class Imbalance</a:t>
              </a:r>
              <a:endParaRPr sz="95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The Paper:</a:t>
              </a:r>
              <a:r>
                <a:rPr lang="en" sz="850" b="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 Trained on an artificial 50/50 split (inflates metrics).</a:t>
              </a:r>
              <a:endParaRPr sz="850" b="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Our Model:</a:t>
              </a:r>
              <a:r>
                <a:rPr lang="en" sz="850" b="0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 Entire state of CA under realistic &lt;1.5% fire imbalance.</a:t>
              </a:r>
              <a:endParaRPr sz="850" b="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endParaRPr sz="85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B. Static Susceptibility vs. Dynamic 24h Forecasting</a:t>
              </a:r>
              <a:endParaRPr sz="95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The Paper:</a:t>
              </a:r>
              <a:r>
                <a:rPr lang="en" sz="850" b="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 Static spatial likelihood mapping of a single regional park.</a:t>
              </a:r>
              <a:endParaRPr sz="850" b="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Our Model:</a:t>
              </a:r>
              <a:r>
                <a:rPr lang="en" sz="850" b="0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 Next-day dynamic temporal forecasting for proactive deployment.</a:t>
              </a:r>
              <a:endParaRPr sz="850" b="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endParaRPr sz="85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C. Dual-Engine Architecture (Classifier + Ranker)</a:t>
              </a:r>
              <a:endParaRPr sz="95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The Paper:</a:t>
              </a:r>
              <a:r>
                <a:rPr lang="en" sz="850" b="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 Basic single-head standard classification.</a:t>
              </a:r>
              <a:endParaRPr sz="850" b="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Our Model:</a:t>
              </a:r>
              <a:r>
                <a:rPr lang="en" sz="850" b="0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 Dual-Head Classifier + LambdaRank with calibrated output.</a:t>
              </a:r>
              <a:endParaRPr sz="850" b="0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381000" y="381000"/>
            <a:ext cx="83820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Champion Model Pipeline &amp; Alert Inference</a:t>
            </a:r>
            <a:endParaRPr sz="2200" b="1">
              <a:solidFill>
                <a:srgbClr val="1A202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239" name="Google Shape;239;p24"/>
          <p:cNvGrpSpPr/>
          <p:nvPr/>
        </p:nvGrpSpPr>
        <p:grpSpPr>
          <a:xfrm>
            <a:off x="381000" y="1333500"/>
            <a:ext cx="1095300" cy="2286000"/>
            <a:chOff x="0" y="0"/>
            <a:chExt cx="1095300" cy="2286000"/>
          </a:xfrm>
        </p:grpSpPr>
        <p:sp>
          <p:nvSpPr>
            <p:cNvPr id="240" name="Google Shape;240;p24"/>
            <p:cNvSpPr/>
            <p:nvPr/>
          </p:nvSpPr>
          <p:spPr>
            <a:xfrm>
              <a:off x="0" y="0"/>
              <a:ext cx="1095300" cy="2286000"/>
            </a:xfrm>
            <a:prstGeom prst="roundRect">
              <a:avLst>
                <a:gd name="adj" fmla="val 5217"/>
              </a:avLst>
            </a:prstGeom>
            <a:solidFill>
              <a:srgbClr val="EDF2F7"/>
            </a:solidFill>
            <a:ln w="14300" cap="flat" cmpd="sng">
              <a:solidFill>
                <a:srgbClr val="CBD5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4"/>
            <p:cNvSpPr txBox="1"/>
            <p:nvPr/>
          </p:nvSpPr>
          <p:spPr>
            <a:xfrm>
              <a:off x="95250" y="95250"/>
              <a:ext cx="9048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86 Features</a:t>
              </a:r>
              <a:endParaRPr sz="1100" b="1">
                <a:solidFill>
                  <a:srgbClr val="2D37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71809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(cell-day)</a:t>
              </a:r>
              <a:endParaRPr sz="900">
                <a:solidFill>
                  <a:srgbClr val="71809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1857375" y="1333500"/>
            <a:ext cx="1190700" cy="1047900"/>
            <a:chOff x="0" y="0"/>
            <a:chExt cx="1190700" cy="1047900"/>
          </a:xfrm>
        </p:grpSpPr>
        <p:sp>
          <p:nvSpPr>
            <p:cNvPr id="243" name="Google Shape;243;p24"/>
            <p:cNvSpPr/>
            <p:nvPr/>
          </p:nvSpPr>
          <p:spPr>
            <a:xfrm>
              <a:off x="0" y="0"/>
              <a:ext cx="1190700" cy="1047900"/>
            </a:xfrm>
            <a:prstGeom prst="roundRect">
              <a:avLst>
                <a:gd name="adj" fmla="val 5454"/>
              </a:avLst>
            </a:prstGeom>
            <a:solidFill>
              <a:srgbClr val="EBF8FF"/>
            </a:solidFill>
            <a:ln w="14300" cap="flat" cmpd="sng">
              <a:solidFill>
                <a:srgbClr val="318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4"/>
            <p:cNvSpPr txBox="1"/>
            <p:nvPr/>
          </p:nvSpPr>
          <p:spPr>
            <a:xfrm>
              <a:off x="95250" y="95250"/>
              <a:ext cx="1000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HEAD 1</a:t>
              </a:r>
              <a:endParaRPr sz="100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LGBM</a:t>
              </a:r>
              <a:b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Classifier</a:t>
              </a:r>
              <a:endParaRPr sz="105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binary</a:t>
              </a:r>
              <a:endParaRPr sz="85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5" name="Google Shape;245;p24"/>
          <p:cNvGrpSpPr/>
          <p:nvPr/>
        </p:nvGrpSpPr>
        <p:grpSpPr>
          <a:xfrm>
            <a:off x="1857375" y="2571750"/>
            <a:ext cx="1190700" cy="1047900"/>
            <a:chOff x="0" y="0"/>
            <a:chExt cx="1190700" cy="1047900"/>
          </a:xfrm>
        </p:grpSpPr>
        <p:sp>
          <p:nvSpPr>
            <p:cNvPr id="246" name="Google Shape;246;p24"/>
            <p:cNvSpPr/>
            <p:nvPr/>
          </p:nvSpPr>
          <p:spPr>
            <a:xfrm>
              <a:off x="0" y="0"/>
              <a:ext cx="1190700" cy="1047900"/>
            </a:xfrm>
            <a:prstGeom prst="roundRect">
              <a:avLst>
                <a:gd name="adj" fmla="val 5454"/>
              </a:avLst>
            </a:prstGeom>
            <a:solidFill>
              <a:srgbClr val="FFF5F5"/>
            </a:solidFill>
            <a:ln w="14300" cap="flat" cmpd="sng">
              <a:solidFill>
                <a:srgbClr val="E5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4"/>
            <p:cNvSpPr txBox="1"/>
            <p:nvPr/>
          </p:nvSpPr>
          <p:spPr>
            <a:xfrm>
              <a:off x="95250" y="95250"/>
              <a:ext cx="10002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C5303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HEAD 2</a:t>
              </a:r>
              <a:endParaRPr sz="1000" b="1">
                <a:solidFill>
                  <a:srgbClr val="C5303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LGBM</a:t>
              </a:r>
              <a:b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 b="1">
                  <a:solidFill>
                    <a:srgbClr val="1A202C"/>
                  </a:solidFill>
                  <a:latin typeface="Inter"/>
                  <a:ea typeface="Inter"/>
                  <a:cs typeface="Inter"/>
                  <a:sym typeface="Inter"/>
                </a:rPr>
                <a:t>Ranker</a:t>
              </a:r>
              <a:endParaRPr sz="1050" b="1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lambdarank</a:t>
              </a:r>
              <a:endPara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8" name="Google Shape;248;p24"/>
          <p:cNvGrpSpPr/>
          <p:nvPr/>
        </p:nvGrpSpPr>
        <p:grpSpPr>
          <a:xfrm>
            <a:off x="3419475" y="1323975"/>
            <a:ext cx="1114500" cy="1066800"/>
            <a:chOff x="-9525" y="-9525"/>
            <a:chExt cx="1114500" cy="1066800"/>
          </a:xfrm>
        </p:grpSpPr>
        <p:pic>
          <p:nvPicPr>
            <p:cNvPr id="249" name="Google Shape;249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9525" y="-9525"/>
              <a:ext cx="1114500" cy="10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24"/>
            <p:cNvSpPr txBox="1"/>
            <p:nvPr/>
          </p:nvSpPr>
          <p:spPr>
            <a:xfrm>
              <a:off x="76200" y="95250"/>
              <a:ext cx="942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Platt</a:t>
              </a:r>
              <a:br>
                <a:rPr lang="en" sz="10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00" b="1">
                  <a:solidFill>
                    <a:srgbClr val="2B6CB0"/>
                  </a:solidFill>
                  <a:latin typeface="Inter"/>
                  <a:ea typeface="Inter"/>
                  <a:cs typeface="Inter"/>
                  <a:sym typeface="Inter"/>
                </a:rPr>
                <a:t>Calibrator</a:t>
              </a:r>
              <a:endParaRPr sz="1000" b="1">
                <a:solidFill>
                  <a:srgbClr val="2B6C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(2024 only)</a:t>
              </a:r>
              <a:endPara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1" name="Google Shape;251;p24"/>
          <p:cNvGrpSpPr/>
          <p:nvPr/>
        </p:nvGrpSpPr>
        <p:grpSpPr>
          <a:xfrm>
            <a:off x="3429000" y="2571750"/>
            <a:ext cx="1095300" cy="1047900"/>
            <a:chOff x="0" y="0"/>
            <a:chExt cx="1095300" cy="1047900"/>
          </a:xfrm>
        </p:grpSpPr>
        <p:sp>
          <p:nvSpPr>
            <p:cNvPr id="252" name="Google Shape;252;p24"/>
            <p:cNvSpPr/>
            <p:nvPr/>
          </p:nvSpPr>
          <p:spPr>
            <a:xfrm>
              <a:off x="0" y="0"/>
              <a:ext cx="1095300" cy="1047900"/>
            </a:xfrm>
            <a:prstGeom prst="roundRect">
              <a:avLst>
                <a:gd name="adj" fmla="val 5454"/>
              </a:avLst>
            </a:prstGeom>
            <a:solidFill>
              <a:srgbClr val="FFF5F5"/>
            </a:solidFill>
            <a:ln w="11425" cap="flat" cmpd="sng">
              <a:solidFill>
                <a:srgbClr val="FE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4"/>
            <p:cNvSpPr txBox="1"/>
            <p:nvPr/>
          </p:nvSpPr>
          <p:spPr>
            <a:xfrm>
              <a:off x="76200" y="95250"/>
              <a:ext cx="942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C5303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Ranker</a:t>
              </a:r>
              <a:br>
                <a:rPr lang="en" sz="1000" b="1">
                  <a:solidFill>
                    <a:srgbClr val="C53030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1000" b="1">
                  <a:solidFill>
                    <a:srgbClr val="C5303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Percentile</a:t>
              </a:r>
              <a:endParaRPr sz="1000" b="1">
                <a:solidFill>
                  <a:srgbClr val="C5303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within-day</a:t>
              </a:r>
              <a:endParaRPr sz="8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4" name="Google Shape;254;p24"/>
          <p:cNvGrpSpPr/>
          <p:nvPr/>
        </p:nvGrpSpPr>
        <p:grpSpPr>
          <a:xfrm>
            <a:off x="4905375" y="1333500"/>
            <a:ext cx="1095300" cy="1047900"/>
            <a:chOff x="0" y="0"/>
            <a:chExt cx="1095300" cy="1047900"/>
          </a:xfrm>
        </p:grpSpPr>
        <p:sp>
          <p:nvSpPr>
            <p:cNvPr id="255" name="Google Shape;255;p24"/>
            <p:cNvSpPr/>
            <p:nvPr/>
          </p:nvSpPr>
          <p:spPr>
            <a:xfrm>
              <a:off x="0" y="0"/>
              <a:ext cx="1095300" cy="1047900"/>
            </a:xfrm>
            <a:prstGeom prst="roundRect">
              <a:avLst>
                <a:gd name="adj" fmla="val 5454"/>
              </a:avLst>
            </a:prstGeom>
            <a:solidFill>
              <a:srgbClr val="EBF8FF"/>
            </a:solidFill>
            <a:ln w="11425" cap="flat" cmpd="sng">
              <a:solidFill>
                <a:srgbClr val="90CD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4"/>
            <p:cNvSpPr txBox="1"/>
            <p:nvPr/>
          </p:nvSpPr>
          <p:spPr>
            <a:xfrm>
              <a:off x="76200" y="95250"/>
              <a:ext cx="942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Classifier</a:t>
              </a:r>
              <a:br>
                <a:rPr lang="en" sz="100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1000" b="1">
                  <a:solidFill>
                    <a:srgbClr val="2B6CB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Percentile</a:t>
              </a:r>
              <a:endParaRPr sz="1000" b="1">
                <a:solidFill>
                  <a:srgbClr val="2B6CB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calibrated</a:t>
              </a:r>
              <a:endParaRPr sz="8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7" name="Google Shape;257;p24"/>
          <p:cNvGrpSpPr/>
          <p:nvPr/>
        </p:nvGrpSpPr>
        <p:grpSpPr>
          <a:xfrm>
            <a:off x="6381750" y="1952625"/>
            <a:ext cx="1143000" cy="1047900"/>
            <a:chOff x="0" y="0"/>
            <a:chExt cx="1143000" cy="1047900"/>
          </a:xfrm>
        </p:grpSpPr>
        <p:sp>
          <p:nvSpPr>
            <p:cNvPr id="258" name="Google Shape;258;p24"/>
            <p:cNvSpPr/>
            <p:nvPr/>
          </p:nvSpPr>
          <p:spPr>
            <a:xfrm>
              <a:off x="0" y="0"/>
              <a:ext cx="1143000" cy="1047900"/>
            </a:xfrm>
            <a:prstGeom prst="roundRect">
              <a:avLst>
                <a:gd name="adj" fmla="val 5454"/>
              </a:avLst>
            </a:prstGeom>
            <a:solidFill>
              <a:srgbClr val="FAF5FF"/>
            </a:solidFill>
            <a:ln w="14300" cap="flat" cmpd="sng">
              <a:solidFill>
                <a:srgbClr val="805A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4"/>
            <p:cNvSpPr txBox="1"/>
            <p:nvPr/>
          </p:nvSpPr>
          <p:spPr>
            <a:xfrm>
              <a:off x="76200" y="95250"/>
              <a:ext cx="9906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6B46C1"/>
                  </a:solidFill>
                  <a:latin typeface="Inter"/>
                  <a:ea typeface="Inter"/>
                  <a:cs typeface="Inter"/>
                  <a:sym typeface="Inter"/>
                </a:rPr>
                <a:t>0.3 / 0.7</a:t>
              </a:r>
              <a:br>
                <a:rPr lang="en" sz="1050" b="1">
                  <a:solidFill>
                    <a:srgbClr val="6B46C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 b="1">
                  <a:solidFill>
                    <a:srgbClr val="6B46C1"/>
                  </a:solidFill>
                  <a:latin typeface="Inter"/>
                  <a:ea typeface="Inter"/>
                  <a:cs typeface="Inter"/>
                  <a:sym typeface="Inter"/>
                </a:rPr>
                <a:t>Blend</a:t>
              </a:r>
              <a:endParaRPr sz="1050" b="1">
                <a:solidFill>
                  <a:srgbClr val="6B46C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4A556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alert_score</a:t>
              </a:r>
              <a:endParaRPr sz="850" b="1">
                <a:solidFill>
                  <a:srgbClr val="4A556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60" name="Google Shape;260;p24"/>
          <p:cNvGrpSpPr/>
          <p:nvPr/>
        </p:nvGrpSpPr>
        <p:grpSpPr>
          <a:xfrm>
            <a:off x="7905750" y="1952625"/>
            <a:ext cx="952500" cy="1047900"/>
            <a:chOff x="0" y="0"/>
            <a:chExt cx="952500" cy="1047900"/>
          </a:xfrm>
        </p:grpSpPr>
        <p:sp>
          <p:nvSpPr>
            <p:cNvPr id="261" name="Google Shape;261;p24"/>
            <p:cNvSpPr/>
            <p:nvPr/>
          </p:nvSpPr>
          <p:spPr>
            <a:xfrm>
              <a:off x="0" y="0"/>
              <a:ext cx="952500" cy="1047900"/>
            </a:xfrm>
            <a:prstGeom prst="roundRect">
              <a:avLst>
                <a:gd name="adj" fmla="val 6000"/>
              </a:avLst>
            </a:prstGeom>
            <a:solidFill>
              <a:srgbClr val="FFF5F5"/>
            </a:solidFill>
            <a:ln w="14300" cap="flat" cmpd="sng">
              <a:solidFill>
                <a:srgbClr val="E53E3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4"/>
            <p:cNvSpPr txBox="1"/>
            <p:nvPr/>
          </p:nvSpPr>
          <p:spPr>
            <a:xfrm>
              <a:off x="76200" y="95250"/>
              <a:ext cx="8001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9B2C2C"/>
                  </a:solidFill>
                  <a:latin typeface="Inter"/>
                  <a:ea typeface="Inter"/>
                  <a:cs typeface="Inter"/>
                  <a:sym typeface="Inter"/>
                </a:rPr>
                <a:t>Daily</a:t>
              </a:r>
              <a:br>
                <a:rPr lang="en" sz="1050" b="1">
                  <a:solidFill>
                    <a:srgbClr val="9B2C2C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" sz="1050" b="1">
                  <a:solidFill>
                    <a:srgbClr val="9B2C2C"/>
                  </a:solidFill>
                  <a:latin typeface="Inter"/>
                  <a:ea typeface="Inter"/>
                  <a:cs typeface="Inter"/>
                  <a:sym typeface="Inter"/>
                </a:rPr>
                <a:t>Top-25</a:t>
              </a:r>
              <a:endParaRPr sz="1050" b="1">
                <a:solidFill>
                  <a:srgbClr val="9B2C2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4A556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Alerts</a:t>
              </a:r>
              <a:endParaRPr sz="900" b="0">
                <a:solidFill>
                  <a:srgbClr val="4A556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63" name="Google Shape;263;p24"/>
          <p:cNvGrpSpPr/>
          <p:nvPr/>
        </p:nvGrpSpPr>
        <p:grpSpPr>
          <a:xfrm>
            <a:off x="1476375" y="1819275"/>
            <a:ext cx="6429375" cy="1314450"/>
            <a:chOff x="1476375" y="1819275"/>
            <a:chExt cx="6429375" cy="1314450"/>
          </a:xfrm>
        </p:grpSpPr>
        <p:sp>
          <p:nvSpPr>
            <p:cNvPr id="264" name="Google Shape;264;p24"/>
            <p:cNvSpPr/>
            <p:nvPr/>
          </p:nvSpPr>
          <p:spPr>
            <a:xfrm>
              <a:off x="1476375" y="1857375"/>
              <a:ext cx="381000" cy="1238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60000" y="60000"/>
                  </a:lnTo>
                  <a:lnTo>
                    <a:pt x="60000" y="0"/>
                  </a:lnTo>
                  <a:lnTo>
                    <a:pt x="120000" y="0"/>
                  </a:lnTo>
                  <a:moveTo>
                    <a:pt x="60000" y="0"/>
                  </a:move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A0AE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1790700" y="1819275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1790700" y="3057525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3048000" y="1857375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A0AE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3362325" y="1819275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3048000" y="3095625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A0AE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3362325" y="3057525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4524375" y="1857375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A0AE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4838700" y="1819275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4524375" y="1857375"/>
              <a:ext cx="1857300" cy="1238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5385" y="0"/>
                  </a:moveTo>
                  <a:lnTo>
                    <a:pt x="107692" y="0"/>
                  </a:lnTo>
                  <a:lnTo>
                    <a:pt x="107692" y="41538"/>
                  </a:lnTo>
                  <a:lnTo>
                    <a:pt x="120000" y="41538"/>
                  </a:lnTo>
                  <a:moveTo>
                    <a:pt x="0" y="120000"/>
                  </a:moveTo>
                  <a:lnTo>
                    <a:pt x="107692" y="120000"/>
                  </a:lnTo>
                  <a:lnTo>
                    <a:pt x="107692" y="78462"/>
                  </a:lnTo>
                  <a:lnTo>
                    <a:pt x="120000" y="78462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A0AE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6315075" y="2247900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6315075" y="2628900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7524750" y="2476500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A0AE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7839075" y="2438400"/>
              <a:ext cx="66600" cy="762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>
                <a:solidFill>
                  <a:srgbClr val="4F46E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Model Evaluation • Headline 2025 Test Results</a:t>
            </a:r>
            <a:endParaRPr sz="950" b="0">
              <a:solidFill>
                <a:srgbClr val="4F46E5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Champion Model Performance</a:t>
            </a:r>
            <a:endParaRPr sz="950" b="0">
              <a:solidFill>
                <a:srgbClr val="4F46E5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grpSp>
        <p:nvGrpSpPr>
          <p:cNvPr id="413" name="Google Shape;413;p28"/>
          <p:cNvGrpSpPr/>
          <p:nvPr/>
        </p:nvGrpSpPr>
        <p:grpSpPr>
          <a:xfrm>
            <a:off x="381000" y="1333500"/>
            <a:ext cx="5143500" cy="495300"/>
            <a:chOff x="0" y="0"/>
            <a:chExt cx="5143500" cy="495300"/>
          </a:xfrm>
        </p:grpSpPr>
        <p:sp>
          <p:nvSpPr>
            <p:cNvPr id="414" name="Google Shape;414;p28"/>
            <p:cNvSpPr/>
            <p:nvPr/>
          </p:nvSpPr>
          <p:spPr>
            <a:xfrm>
              <a:off x="0" y="0"/>
              <a:ext cx="51435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8"/>
            <p:cNvSpPr txBox="1"/>
            <p:nvPr/>
          </p:nvSpPr>
          <p:spPr>
            <a:xfrm>
              <a:off x="14287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ROC-AUC</a:t>
              </a:r>
              <a:endParaRPr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16" name="Google Shape;416;p28"/>
            <p:cNvSpPr txBox="1"/>
            <p:nvPr/>
          </p:nvSpPr>
          <p:spPr>
            <a:xfrm>
              <a:off x="1524000" y="0"/>
              <a:ext cx="762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0.77</a:t>
              </a:r>
              <a:endParaRPr sz="1400" b="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17" name="Google Shape;417;p28"/>
            <p:cNvSpPr txBox="1"/>
            <p:nvPr/>
          </p:nvSpPr>
          <p:spPr>
            <a:xfrm>
              <a:off x="2381250" y="0"/>
              <a:ext cx="2619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Separates fire vs no-fire well above chance</a:t>
              </a:r>
              <a:endParaRPr sz="10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8" name="Google Shape;418;p28"/>
          <p:cNvGrpSpPr/>
          <p:nvPr/>
        </p:nvGrpSpPr>
        <p:grpSpPr>
          <a:xfrm>
            <a:off x="381000" y="1905000"/>
            <a:ext cx="5143500" cy="495300"/>
            <a:chOff x="0" y="0"/>
            <a:chExt cx="5143500" cy="495300"/>
          </a:xfrm>
        </p:grpSpPr>
        <p:sp>
          <p:nvSpPr>
            <p:cNvPr id="419" name="Google Shape;419;p28"/>
            <p:cNvSpPr/>
            <p:nvPr/>
          </p:nvSpPr>
          <p:spPr>
            <a:xfrm>
              <a:off x="0" y="0"/>
              <a:ext cx="51435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8"/>
            <p:cNvSpPr txBox="1"/>
            <p:nvPr/>
          </p:nvSpPr>
          <p:spPr>
            <a:xfrm>
              <a:off x="14287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PR-AUC</a:t>
              </a:r>
              <a:endParaRPr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1" name="Google Shape;421;p28"/>
            <p:cNvSpPr txBox="1"/>
            <p:nvPr/>
          </p:nvSpPr>
          <p:spPr>
            <a:xfrm>
              <a:off x="1524000" y="0"/>
              <a:ext cx="762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0.145</a:t>
              </a:r>
              <a:endParaRPr sz="1400" b="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22" name="Google Shape;422;p28"/>
            <p:cNvSpPr txBox="1"/>
            <p:nvPr/>
          </p:nvSpPr>
          <p:spPr>
            <a:xfrm>
              <a:off x="2381250" y="0"/>
              <a:ext cx="2619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Decent under rare events (~1.4% fire rate)</a:t>
              </a:r>
              <a:endParaRPr sz="10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3" name="Google Shape;423;p28"/>
          <p:cNvGrpSpPr/>
          <p:nvPr/>
        </p:nvGrpSpPr>
        <p:grpSpPr>
          <a:xfrm>
            <a:off x="381000" y="2476500"/>
            <a:ext cx="5143500" cy="495300"/>
            <a:chOff x="0" y="0"/>
            <a:chExt cx="5143500" cy="495300"/>
          </a:xfrm>
        </p:grpSpPr>
        <p:sp>
          <p:nvSpPr>
            <p:cNvPr id="424" name="Google Shape;424;p28"/>
            <p:cNvSpPr/>
            <p:nvPr/>
          </p:nvSpPr>
          <p:spPr>
            <a:xfrm>
              <a:off x="0" y="0"/>
              <a:ext cx="51435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8"/>
            <p:cNvSpPr txBox="1"/>
            <p:nvPr/>
          </p:nvSpPr>
          <p:spPr>
            <a:xfrm>
              <a:off x="14287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Recall@25</a:t>
              </a:r>
              <a:endParaRPr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26" name="Google Shape;426;p28"/>
            <p:cNvSpPr txBox="1"/>
            <p:nvPr/>
          </p:nvSpPr>
          <p:spPr>
            <a:xfrm>
              <a:off x="1524000" y="0"/>
              <a:ext cx="762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36%</a:t>
              </a:r>
              <a:endParaRPr sz="1400" b="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27" name="Google Shape;427;p28"/>
            <p:cNvSpPr txBox="1"/>
            <p:nvPr/>
          </p:nvSpPr>
          <p:spPr>
            <a:xfrm>
              <a:off x="2381250" y="0"/>
              <a:ext cx="2619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Catches ~1 in 3 real fires if you alert top 25 cells/day</a:t>
              </a:r>
              <a:endParaRPr sz="10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8" name="Google Shape;428;p28"/>
          <p:cNvGrpSpPr/>
          <p:nvPr/>
        </p:nvGrpSpPr>
        <p:grpSpPr>
          <a:xfrm>
            <a:off x="381000" y="3048000"/>
            <a:ext cx="5143500" cy="495300"/>
            <a:chOff x="0" y="0"/>
            <a:chExt cx="5143500" cy="495300"/>
          </a:xfrm>
        </p:grpSpPr>
        <p:sp>
          <p:nvSpPr>
            <p:cNvPr id="429" name="Google Shape;429;p28"/>
            <p:cNvSpPr/>
            <p:nvPr/>
          </p:nvSpPr>
          <p:spPr>
            <a:xfrm>
              <a:off x="0" y="0"/>
              <a:ext cx="51435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8"/>
            <p:cNvSpPr txBox="1"/>
            <p:nvPr/>
          </p:nvSpPr>
          <p:spPr>
            <a:xfrm>
              <a:off x="14287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Precision@25</a:t>
              </a:r>
              <a:endParaRPr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1" name="Google Shape;431;p28"/>
            <p:cNvSpPr txBox="1"/>
            <p:nvPr/>
          </p:nvSpPr>
          <p:spPr>
            <a:xfrm>
              <a:off x="1524000" y="0"/>
              <a:ext cx="762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9%</a:t>
              </a:r>
              <a:endParaRPr sz="1400" b="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32" name="Google Shape;432;p28"/>
            <p:cNvSpPr txBox="1"/>
            <p:nvPr/>
          </p:nvSpPr>
          <p:spPr>
            <a:xfrm>
              <a:off x="2381250" y="0"/>
              <a:ext cx="2619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~1 in 11 top-25 alerts is a true fire</a:t>
              </a:r>
              <a:endParaRPr sz="10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3" name="Google Shape;433;p28"/>
          <p:cNvGrpSpPr/>
          <p:nvPr/>
        </p:nvGrpSpPr>
        <p:grpSpPr>
          <a:xfrm>
            <a:off x="381000" y="3619500"/>
            <a:ext cx="5143500" cy="495300"/>
            <a:chOff x="0" y="0"/>
            <a:chExt cx="5143500" cy="495300"/>
          </a:xfrm>
        </p:grpSpPr>
        <p:sp>
          <p:nvSpPr>
            <p:cNvPr id="434" name="Google Shape;434;p28"/>
            <p:cNvSpPr/>
            <p:nvPr/>
          </p:nvSpPr>
          <p:spPr>
            <a:xfrm>
              <a:off x="0" y="0"/>
              <a:ext cx="51435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 txBox="1"/>
            <p:nvPr/>
          </p:nvSpPr>
          <p:spPr>
            <a:xfrm>
              <a:off x="142875" y="0"/>
              <a:ext cx="1238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False Alerts/Day</a:t>
              </a:r>
              <a:endParaRPr sz="11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6" name="Google Shape;436;p28"/>
            <p:cNvSpPr txBox="1"/>
            <p:nvPr/>
          </p:nvSpPr>
          <p:spPr>
            <a:xfrm>
              <a:off x="1524000" y="0"/>
              <a:ext cx="762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4F46E5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~23</a:t>
              </a:r>
              <a:endParaRPr sz="1400" b="0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437" name="Google Shape;437;p28"/>
            <p:cNvSpPr txBox="1"/>
            <p:nvPr/>
          </p:nvSpPr>
          <p:spPr>
            <a:xfrm>
              <a:off x="2381250" y="0"/>
              <a:ext cx="2619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Cost of that daily recall budget</a:t>
              </a:r>
              <a:endParaRPr sz="1050" b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8" name="Google Shape;438;p28"/>
          <p:cNvGrpSpPr/>
          <p:nvPr/>
        </p:nvGrpSpPr>
        <p:grpSpPr>
          <a:xfrm>
            <a:off x="5715000" y="1333500"/>
            <a:ext cx="3048000" cy="2781300"/>
            <a:chOff x="0" y="0"/>
            <a:chExt cx="3048000" cy="2781300"/>
          </a:xfrm>
        </p:grpSpPr>
        <p:sp>
          <p:nvSpPr>
            <p:cNvPr id="439" name="Google Shape;439;p28"/>
            <p:cNvSpPr/>
            <p:nvPr/>
          </p:nvSpPr>
          <p:spPr>
            <a:xfrm>
              <a:off x="0" y="0"/>
              <a:ext cx="3048000" cy="2781300"/>
            </a:xfrm>
            <a:prstGeom prst="roundRect">
              <a:avLst>
                <a:gd name="adj" fmla="val 4109"/>
              </a:avLst>
            </a:prstGeom>
            <a:solidFill>
              <a:srgbClr val="EEF2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0" y="0"/>
              <a:ext cx="57300" cy="27813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 txBox="1"/>
            <p:nvPr/>
          </p:nvSpPr>
          <p:spPr>
            <a:xfrm>
              <a:off x="238125" y="238125"/>
              <a:ext cx="25719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rPr>
                <a:t>Key Strategic Insight</a:t>
              </a:r>
              <a:endParaRPr sz="950" b="1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Optimal Ranking &amp; Alerting Tool</a:t>
              </a:r>
              <a:endParaRPr sz="13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1000"/>
                </a:spcAft>
                <a:buNone/>
              </a:pPr>
              <a:r>
                <a:rPr lang="en" sz="10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This model is highly effective when used as a prioritized daily ranking system, but is not designed to act as a simple "fire/no-fire" binary switch.</a:t>
              </a:r>
              <a:endParaRPr sz="1050" b="0">
                <a:solidFill>
                  <a:srgbClr val="B91C1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 txBox="1">
            <a:spLocks noGrp="1"/>
          </p:cNvSpPr>
          <p:nvPr>
            <p:ph type="title"/>
          </p:nvPr>
        </p:nvSpPr>
        <p:spPr>
          <a:xfrm>
            <a:off x="4834525" y="235475"/>
            <a:ext cx="4047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Champion Model </a:t>
            </a:r>
            <a:r>
              <a:rPr lang="en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Output</a:t>
            </a:r>
            <a:endParaRPr sz="950" b="0">
              <a:solidFill>
                <a:srgbClr val="4F46E5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908025" y="1005425"/>
            <a:ext cx="3810000" cy="3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is the output for July 7th 2025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TP: 5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TN: 409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FP: 20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FN: 3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captured 5 out of 8 fires which is 62.5% of all fires on that day.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48" name="Google Shape;448;p29" title="WhatsApp Image 2026-08-14 at 12.53.52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35180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0"/>
          <p:cNvSpPr txBox="1"/>
          <p:nvPr/>
        </p:nvSpPr>
        <p:spPr>
          <a:xfrm>
            <a:off x="381000" y="381000"/>
            <a:ext cx="83820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>
                <a:solidFill>
                  <a:srgbClr val="4F46E5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Model Interpretation • Survey Alignment</a:t>
            </a:r>
            <a:endParaRPr sz="950" b="0">
              <a:solidFill>
                <a:srgbClr val="4F46E5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2000" b="0" u="sng">
                <a:solidFill>
                  <a:schemeClr val="hlink"/>
                </a:solidFill>
                <a:latin typeface="Inter ExtraBold"/>
                <a:ea typeface="Inter ExtraBold"/>
                <a:cs typeface="Inter ExtraBold"/>
                <a:sym typeface="Inter ExtraBold"/>
                <a:hlinkClick r:id="rId3"/>
              </a:rPr>
              <a:t>Interpreting Champion Results In Context</a:t>
            </a:r>
            <a:endParaRPr sz="20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55" name="Google Shape;455;p30"/>
          <p:cNvGrpSpPr/>
          <p:nvPr/>
        </p:nvGrpSpPr>
        <p:grpSpPr>
          <a:xfrm>
            <a:off x="381000" y="1190625"/>
            <a:ext cx="2571900" cy="1666800"/>
            <a:chOff x="0" y="0"/>
            <a:chExt cx="2571900" cy="1666800"/>
          </a:xfrm>
        </p:grpSpPr>
        <p:sp>
          <p:nvSpPr>
            <p:cNvPr id="456" name="Google Shape;456;p30"/>
            <p:cNvSpPr/>
            <p:nvPr/>
          </p:nvSpPr>
          <p:spPr>
            <a:xfrm>
              <a:off x="0" y="0"/>
              <a:ext cx="2571900" cy="166680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 txBox="1"/>
            <p:nvPr/>
          </p:nvSpPr>
          <p:spPr>
            <a:xfrm>
              <a:off x="152400" y="152400"/>
              <a:ext cx="22671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 • LOW PROBABILITIES</a:t>
              </a:r>
              <a:endParaRPr sz="1000" b="1">
                <a:solidFill>
                  <a:srgbClr val="4F46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Rarity Drives Low Scores</a:t>
              </a:r>
              <a:endParaRPr sz="115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With a </a:t>
              </a: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1.42% prevalence</a:t>
              </a: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even our high-performing multimodal model (ERA5, S2/5P, DEM) correctly assigns near-zero risk to most grids.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9" name="Google Shape;459;p30"/>
          <p:cNvGrpSpPr/>
          <p:nvPr/>
        </p:nvGrpSpPr>
        <p:grpSpPr>
          <a:xfrm>
            <a:off x="3095625" y="1190625"/>
            <a:ext cx="2571900" cy="1666800"/>
            <a:chOff x="0" y="0"/>
            <a:chExt cx="2571900" cy="1666800"/>
          </a:xfrm>
        </p:grpSpPr>
        <p:sp>
          <p:nvSpPr>
            <p:cNvPr id="460" name="Google Shape;460;p30"/>
            <p:cNvSpPr/>
            <p:nvPr/>
          </p:nvSpPr>
          <p:spPr>
            <a:xfrm>
              <a:off x="0" y="0"/>
              <a:ext cx="2571900" cy="166680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 txBox="1"/>
            <p:nvPr/>
          </p:nvSpPr>
          <p:spPr>
            <a:xfrm>
              <a:off x="152400" y="152400"/>
              <a:ext cx="22671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 • OBJECTIVE-DEPENDENT</a:t>
              </a:r>
              <a:endParaRPr sz="1000" b="1">
                <a:solidFill>
                  <a:srgbClr val="4F46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Built for Top-K Ranking</a:t>
              </a:r>
              <a:endParaRPr sz="115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 strict 0.5 cutoff is virtually useless here. The system is optimized as a </a:t>
              </a:r>
              <a:r>
                <a:rPr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Top-25 daily alerting tool</a:t>
              </a: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such that recall is significantly improved</a:t>
              </a: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3" name="Google Shape;463;p30"/>
          <p:cNvGrpSpPr/>
          <p:nvPr/>
        </p:nvGrpSpPr>
        <p:grpSpPr>
          <a:xfrm>
            <a:off x="5810250" y="1190625"/>
            <a:ext cx="2571900" cy="1666800"/>
            <a:chOff x="0" y="0"/>
            <a:chExt cx="2571900" cy="1666800"/>
          </a:xfrm>
        </p:grpSpPr>
        <p:sp>
          <p:nvSpPr>
            <p:cNvPr id="464" name="Google Shape;464;p30"/>
            <p:cNvSpPr/>
            <p:nvPr/>
          </p:nvSpPr>
          <p:spPr>
            <a:xfrm>
              <a:off x="0" y="0"/>
              <a:ext cx="2571900" cy="166680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 txBox="1"/>
            <p:nvPr/>
          </p:nvSpPr>
          <p:spPr>
            <a:xfrm>
              <a:off x="152400" y="152400"/>
              <a:ext cx="22671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 • BASELINE COMPARISON</a:t>
              </a:r>
              <a:endParaRPr sz="1000" b="1">
                <a:solidFill>
                  <a:srgbClr val="4F46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~15x Over Chance</a:t>
              </a:r>
              <a:endParaRPr sz="115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Absolute scores look modest but our PR-AUC </a:t>
              </a: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0.145 vastly outperforms</a:t>
              </a: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chance (0.009), persistence (0.041), and weather-only (0.096).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7" name="Google Shape;467;p30"/>
          <p:cNvGrpSpPr/>
          <p:nvPr/>
        </p:nvGrpSpPr>
        <p:grpSpPr>
          <a:xfrm>
            <a:off x="381000" y="3000375"/>
            <a:ext cx="2571900" cy="1666800"/>
            <a:chOff x="0" y="0"/>
            <a:chExt cx="2571900" cy="1666800"/>
          </a:xfrm>
        </p:grpSpPr>
        <p:sp>
          <p:nvSpPr>
            <p:cNvPr id="468" name="Google Shape;468;p30"/>
            <p:cNvSpPr/>
            <p:nvPr/>
          </p:nvSpPr>
          <p:spPr>
            <a:xfrm>
              <a:off x="0" y="0"/>
              <a:ext cx="2571900" cy="166680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 txBox="1"/>
            <p:nvPr/>
          </p:nvSpPr>
          <p:spPr>
            <a:xfrm>
              <a:off x="152400" y="152400"/>
              <a:ext cx="22671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 • TEMPORAL SHIFT</a:t>
              </a:r>
              <a:endParaRPr sz="1000" b="1">
                <a:solidFill>
                  <a:srgbClr val="4F46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Unresolved Transferability</a:t>
              </a:r>
              <a:endParaRPr sz="115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2023 to 2025 performance drop reflects </a:t>
              </a: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honest future-held-out testing</a:t>
              </a: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revealing true real-world deployment challenges.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1" name="Google Shape;471;p30"/>
          <p:cNvGrpSpPr/>
          <p:nvPr/>
        </p:nvGrpSpPr>
        <p:grpSpPr>
          <a:xfrm>
            <a:off x="3095625" y="3000375"/>
            <a:ext cx="2571900" cy="1666800"/>
            <a:chOff x="0" y="0"/>
            <a:chExt cx="2571900" cy="1666800"/>
          </a:xfrm>
        </p:grpSpPr>
        <p:sp>
          <p:nvSpPr>
            <p:cNvPr id="472" name="Google Shape;472;p30"/>
            <p:cNvSpPr/>
            <p:nvPr/>
          </p:nvSpPr>
          <p:spPr>
            <a:xfrm>
              <a:off x="0" y="0"/>
              <a:ext cx="2571900" cy="166680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 txBox="1"/>
            <p:nvPr/>
          </p:nvSpPr>
          <p:spPr>
            <a:xfrm>
              <a:off x="152400" y="152400"/>
              <a:ext cx="22671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05 • GEOGRAPHIC ERROR</a:t>
              </a:r>
              <a:endParaRPr sz="1000" b="1">
                <a:solidFill>
                  <a:srgbClr val="4F46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Physical, Non-Random Bias</a:t>
              </a:r>
              <a:endParaRPr sz="115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Over-prediction concentrates in northern CA &amp; misses follow Sierra terrain, showing error patterns are </a:t>
              </a:r>
              <a:r>
                <a:rPr lang="en" sz="1000" b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strictly shaped by seasonal regimes</a:t>
              </a:r>
              <a:r>
                <a:rPr lang="en" sz="10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5" name="Google Shape;475;p30"/>
          <p:cNvGrpSpPr/>
          <p:nvPr/>
        </p:nvGrpSpPr>
        <p:grpSpPr>
          <a:xfrm>
            <a:off x="5810250" y="3000375"/>
            <a:ext cx="2571900" cy="1666800"/>
            <a:chOff x="0" y="0"/>
            <a:chExt cx="2571900" cy="1666800"/>
          </a:xfrm>
        </p:grpSpPr>
        <p:sp>
          <p:nvSpPr>
            <p:cNvPr id="476" name="Google Shape;476;p30"/>
            <p:cNvSpPr/>
            <p:nvPr/>
          </p:nvSpPr>
          <p:spPr>
            <a:xfrm>
              <a:off x="0" y="0"/>
              <a:ext cx="2571900" cy="1666800"/>
            </a:xfrm>
            <a:prstGeom prst="roundRect">
              <a:avLst>
                <a:gd name="adj" fmla="val 4571"/>
              </a:avLst>
            </a:prstGeom>
            <a:solidFill>
              <a:srgbClr val="EEF2FF"/>
            </a:solidFill>
            <a:ln w="9525" cap="flat" cmpd="sng">
              <a:solidFill>
                <a:srgbClr val="C7D2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0" y="0"/>
              <a:ext cx="2571900" cy="381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 txBox="1"/>
            <p:nvPr/>
          </p:nvSpPr>
          <p:spPr>
            <a:xfrm>
              <a:off x="152400" y="152400"/>
              <a:ext cx="22671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4F46E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SUMMARY INSIGHT</a:t>
              </a:r>
              <a:endParaRPr sz="1000" b="1">
                <a:solidFill>
                  <a:srgbClr val="4F46E5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Strong &amp; Viable Tool</a:t>
              </a:r>
              <a:endParaRPr sz="115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" sz="1000" b="0">
                  <a:solidFill>
                    <a:srgbClr val="312E81"/>
                  </a:solidFill>
                  <a:latin typeface="Inter"/>
                  <a:ea typeface="Inter"/>
                  <a:cs typeface="Inter"/>
                  <a:sym typeface="Inter"/>
                </a:rPr>
                <a:t>Our metrics define a highly useful daily ranking system that regionalizes risk, where moderate precision is the expected cost of catching rare fires.</a:t>
              </a:r>
              <a:endParaRPr sz="1000" b="0">
                <a:solidFill>
                  <a:srgbClr val="312E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Champion vs Other Models</a:t>
            </a:r>
            <a:endParaRPr sz="26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484" name="Google Shape;484;p31"/>
          <p:cNvGrpSpPr/>
          <p:nvPr/>
        </p:nvGrpSpPr>
        <p:grpSpPr>
          <a:xfrm>
            <a:off x="457200" y="1143032"/>
            <a:ext cx="8440829" cy="3607556"/>
            <a:chOff x="457200" y="1143000"/>
            <a:chExt cx="6143700" cy="3619500"/>
          </a:xfrm>
        </p:grpSpPr>
        <p:grpSp>
          <p:nvGrpSpPr>
            <p:cNvPr id="485" name="Google Shape;485;p31"/>
            <p:cNvGrpSpPr/>
            <p:nvPr/>
          </p:nvGrpSpPr>
          <p:grpSpPr>
            <a:xfrm>
              <a:off x="457200" y="1143000"/>
              <a:ext cx="1952700" cy="3619500"/>
              <a:chOff x="0" y="0"/>
              <a:chExt cx="1952700" cy="3619500"/>
            </a:xfrm>
          </p:grpSpPr>
          <p:sp>
            <p:nvSpPr>
              <p:cNvPr id="486" name="Google Shape;486;p31"/>
              <p:cNvSpPr/>
              <p:nvPr/>
            </p:nvSpPr>
            <p:spPr>
              <a:xfrm>
                <a:off x="0" y="0"/>
                <a:ext cx="1952700" cy="3619500"/>
              </a:xfrm>
              <a:prstGeom prst="roundRect">
                <a:avLst>
                  <a:gd name="adj" fmla="val 5853"/>
                </a:avLst>
              </a:prstGeom>
              <a:solidFill>
                <a:srgbClr val="FFFFFF"/>
              </a:solidFill>
              <a:ln w="1965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31"/>
              <p:cNvSpPr/>
              <p:nvPr/>
            </p:nvSpPr>
            <p:spPr>
              <a:xfrm>
                <a:off x="0" y="0"/>
                <a:ext cx="19527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31"/>
              <p:cNvSpPr txBox="1"/>
              <p:nvPr/>
            </p:nvSpPr>
            <p:spPr>
              <a:xfrm>
                <a:off x="0" y="95250"/>
                <a:ext cx="1952700" cy="342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7025" tIns="157025" rIns="157025" bIns="1570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99" b="1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 3</a:t>
                </a:r>
                <a:endParaRPr sz="1923"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824"/>
                  </a:spcBef>
                  <a:spcAft>
                    <a:spcPts val="0"/>
                  </a:spcAft>
                  <a:buNone/>
                </a:pPr>
                <a:r>
                  <a:rPr lang="en" sz="1511" b="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Multimodal Fusion</a:t>
                </a:r>
                <a:endParaRPr sz="1511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1237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Accuracy: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81.50%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PR-AUC: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0.531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ROC-AUC: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0.831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Recall: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76.20%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824"/>
                  </a:spcBef>
                  <a:spcAft>
                    <a:spcPts val="0"/>
                  </a:spcAft>
                  <a:buNone/>
                </a:pPr>
                <a:endParaRPr sz="1099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99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Evaluated on 4:1 sampled sub-dataset; S2 CNN + S5P CNN + ERA5/DEM LSTM</a:t>
                </a:r>
                <a:endParaRPr sz="10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9" name="Google Shape;489;p31"/>
            <p:cNvGrpSpPr/>
            <p:nvPr/>
          </p:nvGrpSpPr>
          <p:grpSpPr>
            <a:xfrm>
              <a:off x="2552700" y="1143000"/>
              <a:ext cx="1952700" cy="3619500"/>
              <a:chOff x="0" y="0"/>
              <a:chExt cx="1952700" cy="3619500"/>
            </a:xfrm>
          </p:grpSpPr>
          <p:sp>
            <p:nvSpPr>
              <p:cNvPr id="490" name="Google Shape;490;p31"/>
              <p:cNvSpPr/>
              <p:nvPr/>
            </p:nvSpPr>
            <p:spPr>
              <a:xfrm>
                <a:off x="0" y="0"/>
                <a:ext cx="1952700" cy="3619500"/>
              </a:xfrm>
              <a:prstGeom prst="roundRect">
                <a:avLst>
                  <a:gd name="adj" fmla="val 5853"/>
                </a:avLst>
              </a:prstGeom>
              <a:solidFill>
                <a:srgbClr val="FFFFFF"/>
              </a:solidFill>
              <a:ln w="1965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31"/>
              <p:cNvSpPr/>
              <p:nvPr/>
            </p:nvSpPr>
            <p:spPr>
              <a:xfrm>
                <a:off x="0" y="0"/>
                <a:ext cx="19527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1"/>
              <p:cNvSpPr txBox="1"/>
              <p:nvPr/>
            </p:nvSpPr>
            <p:spPr>
              <a:xfrm>
                <a:off x="0" y="95250"/>
                <a:ext cx="1952700" cy="342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7025" tIns="157025" rIns="157025" bIns="1570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99" b="1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 4</a:t>
                </a:r>
                <a:endParaRPr sz="1923"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824"/>
                  </a:spcBef>
                  <a:spcAft>
                    <a:spcPts val="0"/>
                  </a:spcAft>
                  <a:buNone/>
                </a:pPr>
                <a:r>
                  <a:rPr lang="en" sz="1511" b="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V4 LightGBM</a:t>
                </a:r>
                <a:endParaRPr sz="1511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1237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Accuracy: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98.24%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PR-AUC: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0.1751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ROC-AUC: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0.842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r>
                  <a:rPr lang="en" sz="1237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Recall@25:</a:t>
                </a:r>
                <a:r>
                  <a:rPr lang="en" sz="1237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38.33%</a:t>
                </a:r>
                <a:endParaRPr sz="1237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12"/>
                  </a:spcBef>
                  <a:spcAft>
                    <a:spcPts val="0"/>
                  </a:spcAft>
                  <a:buNone/>
                </a:pPr>
                <a:endParaRPr sz="1099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99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Full grid evaluation; optimized directly for daily alert budget (Recall@25) - Test for 2025</a:t>
                </a:r>
                <a:endParaRPr sz="1099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3" name="Google Shape;493;p31"/>
            <p:cNvGrpSpPr/>
            <p:nvPr/>
          </p:nvGrpSpPr>
          <p:grpSpPr>
            <a:xfrm>
              <a:off x="4648200" y="1143000"/>
              <a:ext cx="1952700" cy="3619500"/>
              <a:chOff x="0" y="0"/>
              <a:chExt cx="1952700" cy="3619500"/>
            </a:xfrm>
          </p:grpSpPr>
          <p:sp>
            <p:nvSpPr>
              <p:cNvPr id="494" name="Google Shape;494;p31"/>
              <p:cNvSpPr/>
              <p:nvPr/>
            </p:nvSpPr>
            <p:spPr>
              <a:xfrm>
                <a:off x="0" y="0"/>
                <a:ext cx="1952700" cy="3619500"/>
              </a:xfrm>
              <a:prstGeom prst="roundRect">
                <a:avLst>
                  <a:gd name="adj" fmla="val 5853"/>
                </a:avLst>
              </a:prstGeom>
              <a:solidFill>
                <a:srgbClr val="EEF2FF"/>
              </a:solidFill>
              <a:ln w="26175" cap="flat" cmpd="sng">
                <a:solidFill>
                  <a:srgbClr val="4F46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1"/>
              <p:cNvSpPr/>
              <p:nvPr/>
            </p:nvSpPr>
            <p:spPr>
              <a:xfrm>
                <a:off x="0" y="0"/>
                <a:ext cx="19527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1"/>
              <p:cNvSpPr txBox="1"/>
              <p:nvPr/>
            </p:nvSpPr>
            <p:spPr>
              <a:xfrm>
                <a:off x="0" y="95250"/>
                <a:ext cx="1952700" cy="342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7025" tIns="157025" rIns="157025" bIns="1570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99" b="1">
                    <a:solidFill>
                      <a:srgbClr val="4F46E5"/>
                    </a:solidFill>
                    <a:latin typeface="Inter"/>
                    <a:ea typeface="Inter"/>
                    <a:cs typeface="Inter"/>
                    <a:sym typeface="Inter"/>
                  </a:rPr>
                  <a:t>MILESTONE 5</a:t>
                </a:r>
                <a:endParaRPr sz="1030">
                  <a:solidFill>
                    <a:srgbClr val="FFFFFF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marL="0" lvl="0" indent="0" algn="l" rtl="0">
                  <a:spcBef>
                    <a:spcPts val="618"/>
                  </a:spcBef>
                  <a:spcAft>
                    <a:spcPts val="0"/>
                  </a:spcAft>
                  <a:buNone/>
                </a:pPr>
                <a:r>
                  <a:rPr lang="en" sz="1580" b="0">
                    <a:solidFill>
                      <a:srgbClr val="0F172A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LightGBM Champion</a:t>
                </a:r>
                <a:endParaRPr sz="1580" b="0">
                  <a:solidFill>
                    <a:srgbClr val="0F172A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marL="0" lvl="0" indent="0" algn="l" rtl="0">
                  <a:spcBef>
                    <a:spcPts val="618"/>
                  </a:spcBef>
                  <a:spcAft>
                    <a:spcPts val="0"/>
                  </a:spcAft>
                  <a:buNone/>
                </a:pPr>
                <a:r>
                  <a:rPr lang="en" sz="1168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Accuracy: </a:t>
                </a:r>
                <a:r>
                  <a:rPr lang="en" sz="1168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98.54%</a:t>
                </a:r>
                <a:endParaRPr sz="116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09"/>
                  </a:spcBef>
                  <a:spcAft>
                    <a:spcPts val="0"/>
                  </a:spcAft>
                  <a:buNone/>
                </a:pPr>
                <a:r>
                  <a:rPr lang="en" sz="1168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PR-AUC: </a:t>
                </a:r>
                <a:r>
                  <a:rPr lang="en" sz="1168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0.1451</a:t>
                </a:r>
                <a:endParaRPr sz="116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09"/>
                  </a:spcBef>
                  <a:spcAft>
                    <a:spcPts val="0"/>
                  </a:spcAft>
                  <a:buNone/>
                </a:pPr>
                <a:r>
                  <a:rPr lang="en" sz="1168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ROC-AUC: </a:t>
                </a:r>
                <a:r>
                  <a:rPr lang="en" sz="1168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0.7718</a:t>
                </a:r>
                <a:endParaRPr sz="116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09"/>
                  </a:spcBef>
                  <a:spcAft>
                    <a:spcPts val="0"/>
                  </a:spcAft>
                  <a:buNone/>
                </a:pPr>
                <a:r>
                  <a:rPr lang="en" sz="1168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Recall@25: </a:t>
                </a:r>
                <a:r>
                  <a:rPr lang="en" sz="1168" b="1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36.38%</a:t>
                </a:r>
                <a:endParaRPr sz="116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309"/>
                  </a:spcBef>
                  <a:spcAft>
                    <a:spcPts val="0"/>
                  </a:spcAft>
                  <a:buNone/>
                </a:pPr>
                <a:endParaRPr sz="1030" b="1">
                  <a:solidFill>
                    <a:srgbClr val="4F46E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30">
                    <a:solidFill>
                      <a:srgbClr val="4F5569"/>
                    </a:solidFill>
                    <a:latin typeface="Inter"/>
                    <a:ea typeface="Inter"/>
                    <a:cs typeface="Inter"/>
                    <a:sym typeface="Inter"/>
                  </a:rPr>
                  <a:t>Stage C KNN pre-imputation, May-Nov fire season, high/med fire cells - Test for 2025</a:t>
                </a:r>
                <a:endParaRPr sz="1030">
                  <a:solidFill>
                    <a:srgbClr val="4F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2"/>
          <p:cNvSpPr txBox="1"/>
          <p:nvPr/>
        </p:nvSpPr>
        <p:spPr>
          <a:xfrm>
            <a:off x="381000" y="428625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Deployment</a:t>
            </a:r>
            <a:endParaRPr sz="28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02" name="Google Shape;502;p32"/>
          <p:cNvGrpSpPr/>
          <p:nvPr/>
        </p:nvGrpSpPr>
        <p:grpSpPr>
          <a:xfrm>
            <a:off x="381000" y="1428750"/>
            <a:ext cx="8363100" cy="2762400"/>
            <a:chOff x="381000" y="1428750"/>
            <a:chExt cx="8363100" cy="2762400"/>
          </a:xfrm>
        </p:grpSpPr>
        <p:sp>
          <p:nvSpPr>
            <p:cNvPr id="503" name="Google Shape;503;p32"/>
            <p:cNvSpPr/>
            <p:nvPr/>
          </p:nvSpPr>
          <p:spPr>
            <a:xfrm>
              <a:off x="1866900" y="2800350"/>
              <a:ext cx="1716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3600450" y="2800350"/>
              <a:ext cx="1716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2"/>
            <p:cNvSpPr/>
            <p:nvPr/>
          </p:nvSpPr>
          <p:spPr>
            <a:xfrm>
              <a:off x="5334000" y="2800350"/>
              <a:ext cx="1716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7067550" y="2800350"/>
              <a:ext cx="17160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7" name="Google Shape;507;p32"/>
            <p:cNvGrpSpPr/>
            <p:nvPr/>
          </p:nvGrpSpPr>
          <p:grpSpPr>
            <a:xfrm>
              <a:off x="381000" y="1428750"/>
              <a:ext cx="1428900" cy="2762400"/>
              <a:chOff x="0" y="0"/>
              <a:chExt cx="1428900" cy="2762400"/>
            </a:xfrm>
          </p:grpSpPr>
          <p:sp>
            <p:nvSpPr>
              <p:cNvPr id="508" name="Google Shape;508;p32"/>
              <p:cNvSpPr/>
              <p:nvPr/>
            </p:nvSpPr>
            <p:spPr>
              <a:xfrm>
                <a:off x="0" y="0"/>
                <a:ext cx="1428900" cy="27624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2"/>
              <p:cNvSpPr/>
              <p:nvPr/>
            </p:nvSpPr>
            <p:spPr>
              <a:xfrm>
                <a:off x="0" y="0"/>
                <a:ext cx="1428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2"/>
              <p:cNvSpPr txBox="1"/>
              <p:nvPr/>
            </p:nvSpPr>
            <p:spPr>
              <a:xfrm>
                <a:off x="0" y="0"/>
                <a:ext cx="14289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90500" rIns="1524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4F46E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01</a:t>
                </a:r>
                <a:r>
                  <a:rPr lang="en" sz="2000">
                    <a:solidFill>
                      <a:srgbClr val="4F46E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cloud_download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Data Ingestion</a:t>
                </a:r>
                <a:endParaRPr sz="13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225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Previous day data is downloaded to GCS Bucket from GEE.</a:t>
                </a:r>
                <a:endParaRPr sz="1225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1" name="Google Shape;511;p32"/>
            <p:cNvGrpSpPr/>
            <p:nvPr/>
          </p:nvGrpSpPr>
          <p:grpSpPr>
            <a:xfrm>
              <a:off x="2114550" y="1428750"/>
              <a:ext cx="1428900" cy="2762400"/>
              <a:chOff x="0" y="0"/>
              <a:chExt cx="1428900" cy="2762400"/>
            </a:xfrm>
          </p:grpSpPr>
          <p:sp>
            <p:nvSpPr>
              <p:cNvPr id="512" name="Google Shape;512;p32"/>
              <p:cNvSpPr/>
              <p:nvPr/>
            </p:nvSpPr>
            <p:spPr>
              <a:xfrm>
                <a:off x="0" y="0"/>
                <a:ext cx="1428900" cy="27624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2"/>
              <p:cNvSpPr/>
              <p:nvPr/>
            </p:nvSpPr>
            <p:spPr>
              <a:xfrm>
                <a:off x="0" y="0"/>
                <a:ext cx="1428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2"/>
              <p:cNvSpPr txBox="1"/>
              <p:nvPr/>
            </p:nvSpPr>
            <p:spPr>
              <a:xfrm>
                <a:off x="0" y="0"/>
                <a:ext cx="14289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90500" rIns="1524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25" b="0">
                    <a:solidFill>
                      <a:srgbClr val="4F46E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02</a:t>
                </a:r>
                <a:r>
                  <a:rPr lang="en" sz="1850">
                    <a:solidFill>
                      <a:srgbClr val="4F46E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</a:t>
                </a:r>
                <a:endParaRPr sz="1295"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203" b="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Preprocessing</a:t>
                </a:r>
                <a:endParaRPr sz="1203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It is processed into parquet files, joined together and stored in GCS Bucket after preprocessing.</a:t>
                </a:r>
                <a:endParaRPr sz="12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5" name="Google Shape;515;p32"/>
            <p:cNvGrpSpPr/>
            <p:nvPr/>
          </p:nvGrpSpPr>
          <p:grpSpPr>
            <a:xfrm>
              <a:off x="3848100" y="1428750"/>
              <a:ext cx="1428900" cy="2762400"/>
              <a:chOff x="0" y="0"/>
              <a:chExt cx="1428900" cy="2762400"/>
            </a:xfrm>
          </p:grpSpPr>
          <p:sp>
            <p:nvSpPr>
              <p:cNvPr id="516" name="Google Shape;516;p32"/>
              <p:cNvSpPr/>
              <p:nvPr/>
            </p:nvSpPr>
            <p:spPr>
              <a:xfrm>
                <a:off x="0" y="0"/>
                <a:ext cx="1428900" cy="27624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2"/>
              <p:cNvSpPr/>
              <p:nvPr/>
            </p:nvSpPr>
            <p:spPr>
              <a:xfrm>
                <a:off x="0" y="0"/>
                <a:ext cx="1428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2"/>
              <p:cNvSpPr txBox="1"/>
              <p:nvPr/>
            </p:nvSpPr>
            <p:spPr>
              <a:xfrm>
                <a:off x="0" y="0"/>
                <a:ext cx="14289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90500" rIns="1524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25" b="0">
                    <a:solidFill>
                      <a:srgbClr val="4F46E5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03</a:t>
                </a:r>
                <a:r>
                  <a:rPr lang="en" sz="1850">
                    <a:solidFill>
                      <a:srgbClr val="4F46E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schedule</a:t>
                </a:r>
                <a:endParaRPr sz="1295"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203" b="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Orchestration</a:t>
                </a:r>
                <a:endParaRPr sz="1203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 cron job is run everyday from Cloud Run to do the above two steps.</a:t>
                </a:r>
                <a:endParaRPr sz="12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9" name="Google Shape;519;p32"/>
            <p:cNvGrpSpPr/>
            <p:nvPr/>
          </p:nvGrpSpPr>
          <p:grpSpPr>
            <a:xfrm>
              <a:off x="5581650" y="1428750"/>
              <a:ext cx="1428900" cy="2762400"/>
              <a:chOff x="0" y="0"/>
              <a:chExt cx="1428900" cy="2762400"/>
            </a:xfrm>
          </p:grpSpPr>
          <p:sp>
            <p:nvSpPr>
              <p:cNvPr id="520" name="Google Shape;520;p32"/>
              <p:cNvSpPr/>
              <p:nvPr/>
            </p:nvSpPr>
            <p:spPr>
              <a:xfrm>
                <a:off x="0" y="0"/>
                <a:ext cx="1428900" cy="27624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2"/>
              <p:cNvSpPr/>
              <p:nvPr/>
            </p:nvSpPr>
            <p:spPr>
              <a:xfrm>
                <a:off x="0" y="0"/>
                <a:ext cx="1428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2"/>
              <p:cNvSpPr txBox="1"/>
              <p:nvPr/>
            </p:nvSpPr>
            <p:spPr>
              <a:xfrm>
                <a:off x="0" y="0"/>
                <a:ext cx="14289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90500" rIns="1524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10B98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04</a:t>
                </a:r>
                <a:r>
                  <a:rPr lang="en" sz="20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dns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Hosting</a:t>
                </a:r>
                <a:endParaRPr sz="13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frontend and backend are hosted in the GCP instance with a predict endpoint.</a:t>
                </a:r>
                <a:endParaRPr sz="12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23" name="Google Shape;523;p32"/>
            <p:cNvGrpSpPr/>
            <p:nvPr/>
          </p:nvGrpSpPr>
          <p:grpSpPr>
            <a:xfrm>
              <a:off x="7315200" y="1428750"/>
              <a:ext cx="1428900" cy="2762400"/>
              <a:chOff x="0" y="0"/>
              <a:chExt cx="1428900" cy="2762400"/>
            </a:xfrm>
          </p:grpSpPr>
          <p:sp>
            <p:nvSpPr>
              <p:cNvPr id="524" name="Google Shape;524;p32"/>
              <p:cNvSpPr/>
              <p:nvPr/>
            </p:nvSpPr>
            <p:spPr>
              <a:xfrm>
                <a:off x="0" y="0"/>
                <a:ext cx="1428900" cy="2762400"/>
              </a:xfrm>
              <a:prstGeom prst="roundRect">
                <a:avLst>
                  <a:gd name="adj" fmla="val 10666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2"/>
              <p:cNvSpPr/>
              <p:nvPr/>
            </p:nvSpPr>
            <p:spPr>
              <a:xfrm>
                <a:off x="0" y="0"/>
                <a:ext cx="14289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2"/>
              <p:cNvSpPr txBox="1"/>
              <p:nvPr/>
            </p:nvSpPr>
            <p:spPr>
              <a:xfrm>
                <a:off x="0" y="0"/>
                <a:ext cx="14289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400" tIns="190500" rIns="1524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10B981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STEP 05</a:t>
                </a:r>
                <a:r>
                  <a:rPr lang="en" sz="20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visibility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Default View</a:t>
                </a:r>
                <a:endParaRPr sz="13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By default the application shows next day’s fire prediction to the user.</a:t>
                </a:r>
                <a:endParaRPr sz="12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3"/>
          <p:cNvSpPr txBox="1">
            <a:spLocks noGrp="1"/>
          </p:cNvSpPr>
          <p:nvPr>
            <p:ph type="title"/>
          </p:nvPr>
        </p:nvSpPr>
        <p:spPr>
          <a:xfrm>
            <a:off x="311700" y="1877550"/>
            <a:ext cx="8520600" cy="13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/>
              <a:t>DEMO</a:t>
            </a:r>
            <a:endParaRPr sz="50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References</a:t>
            </a:r>
            <a:endParaRPr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A Forest Fire Susceptibility Modeling Approach Based on Light Gradient Boosting Machine Algorithm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A Comprehensive Survey of Satellite-Based Wildfire Indicators and Spatiotemporal Modeling Approaches: Past, Present, and Future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5"/>
              </a:rPr>
              <a:t>EGUsphere - Direct Estimation of Wildfire Emissions at High Latitudes from Combined Polar Orbiter FRP and Sentinel-5P CO Data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Signatures</a:t>
            </a:r>
            <a:endParaRPr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43" name="Google Shape;543;p35"/>
          <p:cNvGraphicFramePr/>
          <p:nvPr>
            <p:extLst>
              <p:ext uri="{D42A27DB-BD31-4B8C-83A1-F6EECF244321}">
                <p14:modId xmlns:p14="http://schemas.microsoft.com/office/powerpoint/2010/main" val="615340199"/>
              </p:ext>
            </p:extLst>
          </p:nvPr>
        </p:nvGraphicFramePr>
        <p:xfrm>
          <a:off x="952500" y="1428750"/>
          <a:ext cx="7239000" cy="2377260"/>
        </p:xfrm>
        <a:graphic>
          <a:graphicData uri="http://schemas.openxmlformats.org/drawingml/2006/table">
            <a:tbl>
              <a:tblPr>
                <a:noFill/>
                <a:tableStyleId>{82FD991A-EE3F-4C92-9417-302D7A9F58FC}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Roll Number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Signature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Ripunjay Kumar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21F3002511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rgbClr val="F0F6FC"/>
                          </a:solidFill>
                          <a:highlight>
                            <a:schemeClr val="lt1"/>
                          </a:highlight>
                        </a:rPr>
                        <a:t>✅ </a:t>
                      </a:r>
                      <a:r>
                        <a:rPr lang="en" sz="1200" dirty="0">
                          <a:solidFill>
                            <a:srgbClr val="F0F6FC"/>
                          </a:solidFill>
                          <a:highlight>
                            <a:srgbClr val="0D1117"/>
                          </a:highlight>
                        </a:rPr>
                        <a:t>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Lakshay Garg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21F3001076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dirty="0">
                          <a:solidFill>
                            <a:srgbClr val="F0F6FC"/>
                          </a:solidFill>
                          <a:highlight>
                            <a:schemeClr val="lt1"/>
                          </a:highlight>
                        </a:rPr>
                        <a:t>✅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Roushan Kumar Singh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23F1002240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dirty="0">
                          <a:solidFill>
                            <a:srgbClr val="F0F6FC"/>
                          </a:solidFill>
                          <a:highlight>
                            <a:schemeClr val="lt1"/>
                          </a:highlight>
                        </a:rPr>
                        <a:t>✅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Lakshmi Sruthi 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21F1005626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dirty="0">
                          <a:solidFill>
                            <a:srgbClr val="F0F6FC"/>
                          </a:solidFill>
                          <a:highlight>
                            <a:schemeClr val="lt1"/>
                          </a:highlight>
                        </a:rPr>
                        <a:t>✅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 Aditya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21F1004839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>
                          <a:solidFill>
                            <a:srgbClr val="F0F6FC"/>
                          </a:solidFill>
                          <a:highlight>
                            <a:schemeClr val="lt1"/>
                          </a:highlight>
                        </a:rPr>
                        <a:t>✅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1573</Words>
  <Application>Microsoft Office PowerPoint</Application>
  <PresentationFormat>On-screen Show (16:9)</PresentationFormat>
  <Paragraphs>269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Merriweather</vt:lpstr>
      <vt:lpstr>Inter SemiBold</vt:lpstr>
      <vt:lpstr>Arial</vt:lpstr>
      <vt:lpstr>Inter ExtraBold</vt:lpstr>
      <vt:lpstr>Roboto Mono Medium</vt:lpstr>
      <vt:lpstr>Roboto Mono</vt:lpstr>
      <vt:lpstr>Roboto Mono SemiBold</vt:lpstr>
      <vt:lpstr>Inter Black</vt:lpstr>
      <vt:lpstr>Material Icons</vt:lpstr>
      <vt:lpstr>Inter</vt:lpstr>
      <vt:lpstr>Inter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Evaluation • Headline 2025 Test Results Champion Model Performance</vt:lpstr>
      <vt:lpstr>Champion Model Output</vt:lpstr>
      <vt:lpstr>PowerPoint Presentation</vt:lpstr>
      <vt:lpstr>Champion vs Other Models</vt:lpstr>
      <vt:lpstr>PowerPoint Presentation</vt:lpstr>
      <vt:lpstr>DEMO</vt:lpstr>
      <vt:lpstr>References </vt:lpstr>
      <vt:lpstr>Signatures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Lakshmi Sruthi K</dc:creator>
  <cp:lastModifiedBy>Lakshmi Sruthi K</cp:lastModifiedBy>
  <cp:revision>2</cp:revision>
  <dcterms:modified xsi:type="dcterms:W3CDTF">2026-08-13T19:56:22Z</dcterms:modified>
</cp:coreProperties>
</file>